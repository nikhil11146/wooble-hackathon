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Hello everyone. We are presenting KaushalSetu, a platform that connects job seekers with employers and makes hiring simpler, more transparent, and more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context: workers need credible profiles, employers need confidence, and admins need tools to verify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KaushalSetu is not just a job board. It is a complete loop where verified worker data improves matching and hiring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home page: theme support, Swiper testimonials, demo accounts for all three roles, and the small toast for Render server wake-up.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worker dashboard and profile. Emphasize Trust Score as a visible, explainable indicator of profile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jobs, applications, and messaging. Mention WebSockets and Socket.IO for real-time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Switch to the employer side: update company profile, create and close jobs, browse candidates, shortlist, use pipeline, message workers, and view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Move to admin: profile verification, certificate queue, approve and reject actions, and platform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what makes the project stand out: transparent Trust Score, explainable matching, verification, and real-time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 the stack: MongoDB, Express, React, Node, Socket.IO/WebSockets, Netlify frontend, Render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summary: workers, employers, and admins each have a clear job to do, and KaushalSetu brings them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26958" r="26958"/>
          <a:stretch>
            <a:fillRect/>
          </a:stretch>
        </p:blipFill>
        <p:spPr>
          <a:xfrm>
            <a:off x="6572250" y="0"/>
            <a:ext cx="5619750" cy="6858000"/>
          </a:xfrm>
          <a:prstGeom prst="rect">
            <a:avLst/>
          </a:prstGeom>
        </p:spPr>
      </p:pic>
      <p:sp>
        <p:nvSpPr>
          <p:cNvPr id="2" name="image-overlay">
            <a:extLst>
              <a:ext uri="{FF2B5EF4-FFF2-40B4-BE49-F238E27FC236}">
                <a16:creationId xmlns:a16="http://schemas.microsoft.com/office/drawing/2014/main" id="{5E210626-F5FB-409D-B9EA-A45698768655}"/>
              </a:ext>
            </a:extLst>
          </p:cNvPr>
          <p:cNvSpPr>
            <a:spLocks noGrp="1"/>
          </p:cNvSpPr>
          <p:nvPr/>
        </p:nvSpPr>
        <p:spPr>
          <a:xfrm>
            <a:off x="6572250" y="0"/>
            <a:ext cx="5619750" cy="6858000"/>
          </a:xfrm>
          <a:prstGeom prst="rect">
            <a:avLst/>
          </a:prstGeom>
          <a:solidFill>
            <a:srgbClr val="071B36">
              <a:alpha val="66667"/>
            </a:srgbClr>
          </a:solidFill>
          <a:ln w="0">
            <a:noFill/>
            <a:prstDash val="solid"/>
          </a:ln>
        </p:spPr>
      </p:sp>
      <p:sp>
        <p:nvSpPr>
          <p:cNvPr id="3" name="accent-bar">
            <a:extLst>
              <a:ext uri="{FF2B5EF4-FFF2-40B4-BE49-F238E27FC236}">
                <a16:creationId xmlns:a16="http://schemas.microsoft.com/office/drawing/2014/main" id="{25B43987-938E-4BA9-A458-2E42C32890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E1FEF1BD-D50A-4235-95D1-DB2AF92754D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rPr>
              <a:t>HACKATHON PITCH DECK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ACBAC320-9954-4373-871F-5C4F1E4E50E1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581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33C3B0ED-34CB-4A57-8F54-B38B685907D4}"/>
              </a:ext>
            </a:extLst>
          </p:cNvPr>
          <p:cNvSpPr>
            <a:spLocks noGrp="1"/>
          </p:cNvSpPr>
          <p:nvPr/>
        </p:nvSpPr>
        <p:spPr>
          <a:xfrm>
            <a:off x="552450" y="262890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0">
                <a:solidFill>
                  <a:srgbClr val="DCEAF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AFE"/>
                </a:solidFill>
                <a:latin typeface="Aptos"/>
                <a:ea typeface="Aptos"/>
                <a:cs typeface="Aptos"/>
              </a:rPr>
              <a:t>Verified skills. Trusted workers. Faster hiring.</a:t>
            </a:r>
          </a:p>
        </p:txBody>
      </p:sp>
      <p:sp>
        <p:nvSpPr>
          <p:cNvPr id="7" name="cover-body">
            <a:extLst>
              <a:ext uri="{FF2B5EF4-FFF2-40B4-BE49-F238E27FC236}">
                <a16:creationId xmlns:a16="http://schemas.microsoft.com/office/drawing/2014/main" id="{5FE4D311-4C1F-4DCD-B2F6-594EFE832B94}"/>
              </a:ext>
            </a:extLst>
          </p:cNvPr>
          <p:cNvSpPr>
            <a:spLocks noGrp="1"/>
          </p:cNvSpPr>
          <p:nvPr/>
        </p:nvSpPr>
        <p:spPr>
          <a:xfrm>
            <a:off x="552450" y="38766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0">
                <a:solidFill>
                  <a:srgbClr val="BBD3F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BD3F2"/>
                </a:solidFill>
                <a:latin typeface="Aptos"/>
                <a:ea typeface="Aptos"/>
                <a:cs typeface="Aptos"/>
              </a:rPr>
              <a:t>A three-sided recruitment platform for job seekers, employers, and admins.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42995" y="4762500"/>
            <a:ext cx="1411811" cy="1485900"/>
          </a:xfrm>
          <a:prstGeom prst="rect">
            <a:avLst/>
          </a:prstGeom>
        </p:spPr>
      </p:pic>
      <p:sp>
        <p:nvSpPr>
          <p:cNvPr id="9" name="cover-footer">
            <a:extLst>
              <a:ext uri="{FF2B5EF4-FFF2-40B4-BE49-F238E27FC236}">
                <a16:creationId xmlns:a16="http://schemas.microsoft.com/office/drawing/2014/main" id="{10B79339-BAEF-454B-AC49-A9187EA18AB8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35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rPr>
              <a:t>Connecting skills with opportunities</a:t>
            </a:r>
          </a:p>
        </p:txBody>
      </p:sp>
    </p:spTree>
    <p:extLst>
      <p:ext uri="{BB962C8B-B14F-4D97-AF65-F5344CB8AC3E}">
        <p14:creationId xmlns:p14="http://schemas.microsoft.com/office/powerpoint/2010/main" val="513019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-dot">
            <a:extLst>
              <a:ext uri="{FF2B5EF4-FFF2-40B4-BE49-F238E27FC236}">
                <a16:creationId xmlns:a16="http://schemas.microsoft.com/office/drawing/2014/main" id="{0CA84850-6842-41A2-9FE0-F7365A8C500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2ED30E37-9DE9-4DD6-B0FD-A7725E236B0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843F2CC-595A-42E6-941F-9C55CF97489C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Hiring breaks when skill proof is scattered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568A9051-7E82-4B5B-98CB-326101E53216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Blue-collar workers often have real capability, but employers struggle to verify it quickly and fairly.</a:t>
            </a:r>
          </a:p>
        </p:txBody>
      </p:sp>
      <p:sp>
        <p:nvSpPr>
          <p:cNvPr id="5" name="footer-2">
            <a:extLst>
              <a:ext uri="{FF2B5EF4-FFF2-40B4-BE49-F238E27FC236}">
                <a16:creationId xmlns:a16="http://schemas.microsoft.com/office/drawing/2014/main" id="{9943759A-A9AD-4C2B-8CBB-FAFB6D3E0DBE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problem-Workers">
            <a:extLst>
              <a:ext uri="{FF2B5EF4-FFF2-40B4-BE49-F238E27FC236}">
                <a16:creationId xmlns:a16="http://schemas.microsoft.com/office/drawing/2014/main" id="{B3FB2B1C-2200-4639-8C69-3D26FBC634E3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524250" cy="247650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problem-square-Workers">
            <a:extLst>
              <a:ext uri="{FF2B5EF4-FFF2-40B4-BE49-F238E27FC236}">
                <a16:creationId xmlns:a16="http://schemas.microsoft.com/office/drawing/2014/main" id="{D4A92650-B802-4C51-B89F-4F1D91308280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47650" cy="247650"/>
          </a:xfrm>
          <a:prstGeom prst="rect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8" name="problem-heading-Workers">
            <a:extLst>
              <a:ext uri="{FF2B5EF4-FFF2-40B4-BE49-F238E27FC236}">
                <a16:creationId xmlns:a16="http://schemas.microsoft.com/office/drawing/2014/main" id="{FA1700DC-1BC8-45B4-BFB9-67A9F74556FE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6154"/>
          </a:bodyPr>
          <a:lstStyle/>
          <a:p>
            <a:pPr algn="l"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Workers</a:t>
            </a:r>
          </a:p>
        </p:txBody>
      </p:sp>
      <p:sp>
        <p:nvSpPr>
          <p:cNvPr id="9" name="problem-body-Workers">
            <a:extLst>
              <a:ext uri="{FF2B5EF4-FFF2-40B4-BE49-F238E27FC236}">
                <a16:creationId xmlns:a16="http://schemas.microsoft.com/office/drawing/2014/main" id="{57DCDDE4-ADAB-4E7C-BD25-80A337DE3AC9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Skills live in memories, certificates, WhatsApp chats, and past employer references instead of one credible profile.</a:t>
            </a:r>
          </a:p>
        </p:txBody>
      </p:sp>
      <p:sp>
        <p:nvSpPr>
          <p:cNvPr id="10" name="problem-Employers">
            <a:extLst>
              <a:ext uri="{FF2B5EF4-FFF2-40B4-BE49-F238E27FC236}">
                <a16:creationId xmlns:a16="http://schemas.microsoft.com/office/drawing/2014/main" id="{08310028-99F0-43FF-A156-8BAFCFAF24BE}"/>
              </a:ext>
            </a:extLst>
          </p:cNvPr>
          <p:cNvSpPr>
            <a:spLocks noGrp="1"/>
          </p:cNvSpPr>
          <p:nvPr/>
        </p:nvSpPr>
        <p:spPr>
          <a:xfrm>
            <a:off x="4324350" y="2476500"/>
            <a:ext cx="3524250" cy="247650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problem-square-Employers">
            <a:extLst>
              <a:ext uri="{FF2B5EF4-FFF2-40B4-BE49-F238E27FC236}">
                <a16:creationId xmlns:a16="http://schemas.microsoft.com/office/drawing/2014/main" id="{B6CE35FA-3A60-47EB-B319-343CEC054298}"/>
              </a:ext>
            </a:extLst>
          </p:cNvPr>
          <p:cNvSpPr>
            <a:spLocks noGrp="1"/>
          </p:cNvSpPr>
          <p:nvPr/>
        </p:nvSpPr>
        <p:spPr>
          <a:xfrm>
            <a:off x="4610100" y="2781300"/>
            <a:ext cx="247650" cy="247650"/>
          </a:xfrm>
          <a:prstGeom prst="rect">
            <a:avLst/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12" name="problem-heading-Employers">
            <a:extLst>
              <a:ext uri="{FF2B5EF4-FFF2-40B4-BE49-F238E27FC236}">
                <a16:creationId xmlns:a16="http://schemas.microsoft.com/office/drawing/2014/main" id="{CB87DECA-087B-49FF-8534-388D669ECF67}"/>
              </a:ext>
            </a:extLst>
          </p:cNvPr>
          <p:cNvSpPr>
            <a:spLocks noGrp="1"/>
          </p:cNvSpPr>
          <p:nvPr/>
        </p:nvSpPr>
        <p:spPr>
          <a:xfrm>
            <a:off x="4610100" y="32956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6154"/>
          </a:bodyPr>
          <a:lstStyle/>
          <a:p>
            <a:pPr algn="l"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Employers</a:t>
            </a:r>
          </a:p>
        </p:txBody>
      </p:sp>
      <p:sp>
        <p:nvSpPr>
          <p:cNvPr id="13" name="problem-body-Employers">
            <a:extLst>
              <a:ext uri="{FF2B5EF4-FFF2-40B4-BE49-F238E27FC236}">
                <a16:creationId xmlns:a16="http://schemas.microsoft.com/office/drawing/2014/main" id="{D8674124-AED1-4925-8C8F-9F20362CBC54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Hiring teams screen manually, repeat calls, and still lack confidence that a candidate is the right fit.</a:t>
            </a:r>
          </a:p>
        </p:txBody>
      </p:sp>
      <p:sp>
        <p:nvSpPr>
          <p:cNvPr id="14" name="problem-Admins">
            <a:extLst>
              <a:ext uri="{FF2B5EF4-FFF2-40B4-BE49-F238E27FC236}">
                <a16:creationId xmlns:a16="http://schemas.microsoft.com/office/drawing/2014/main" id="{B37724CE-890D-44EA-B0CD-5B3DAC2BEDB0}"/>
              </a:ext>
            </a:extLst>
          </p:cNvPr>
          <p:cNvSpPr>
            <a:spLocks noGrp="1"/>
          </p:cNvSpPr>
          <p:nvPr/>
        </p:nvSpPr>
        <p:spPr>
          <a:xfrm>
            <a:off x="8248650" y="2476500"/>
            <a:ext cx="3524250" cy="247650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problem-square-Admins">
            <a:extLst>
              <a:ext uri="{FF2B5EF4-FFF2-40B4-BE49-F238E27FC236}">
                <a16:creationId xmlns:a16="http://schemas.microsoft.com/office/drawing/2014/main" id="{93FA0FF6-FE0D-45CA-BE1F-C5F199CEB929}"/>
              </a:ext>
            </a:extLst>
          </p:cNvPr>
          <p:cNvSpPr>
            <a:spLocks noGrp="1"/>
          </p:cNvSpPr>
          <p:nvPr/>
        </p:nvSpPr>
        <p:spPr>
          <a:xfrm>
            <a:off x="8534400" y="2781300"/>
            <a:ext cx="247650" cy="2476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problem-heading-Admins">
            <a:extLst>
              <a:ext uri="{FF2B5EF4-FFF2-40B4-BE49-F238E27FC236}">
                <a16:creationId xmlns:a16="http://schemas.microsoft.com/office/drawing/2014/main" id="{991EF8D3-4660-4F06-A28F-B949D659DCFD}"/>
              </a:ext>
            </a:extLst>
          </p:cNvPr>
          <p:cNvSpPr>
            <a:spLocks noGrp="1"/>
          </p:cNvSpPr>
          <p:nvPr/>
        </p:nvSpPr>
        <p:spPr>
          <a:xfrm>
            <a:off x="8534400" y="32956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6154"/>
          </a:bodyPr>
          <a:lstStyle/>
          <a:p>
            <a:pPr algn="l"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Admins</a:t>
            </a:r>
          </a:p>
        </p:txBody>
      </p:sp>
      <p:sp>
        <p:nvSpPr>
          <p:cNvPr id="17" name="problem-body-Admins">
            <a:extLst>
              <a:ext uri="{FF2B5EF4-FFF2-40B4-BE49-F238E27FC236}">
                <a16:creationId xmlns:a16="http://schemas.microsoft.com/office/drawing/2014/main" id="{CE15B4A6-7509-4B44-83B8-43F3583ACC78}"/>
              </a:ext>
            </a:extLst>
          </p:cNvPr>
          <p:cNvSpPr>
            <a:spLocks noGrp="1"/>
          </p:cNvSpPr>
          <p:nvPr/>
        </p:nvSpPr>
        <p:spPr>
          <a:xfrm>
            <a:off x="8534400" y="37909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Verification work is separated from the hiring flow, so trust signals arrive late or stay invisible.</a:t>
            </a:r>
          </a:p>
        </p:txBody>
      </p:sp>
      <p:sp>
        <p:nvSpPr>
          <p:cNvPr id="18" name="problem-rule">
            <a:extLst>
              <a:ext uri="{FF2B5EF4-FFF2-40B4-BE49-F238E27FC236}">
                <a16:creationId xmlns:a16="http://schemas.microsoft.com/office/drawing/2014/main" id="{2E2954C1-224C-4861-A101-5E5C9F06E15D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9" name="problem-takeaway">
            <a:extLst>
              <a:ext uri="{FF2B5EF4-FFF2-40B4-BE49-F238E27FC236}">
                <a16:creationId xmlns:a16="http://schemas.microsoft.com/office/drawing/2014/main" id="{5C35BAD8-0E50-462C-A57D-6CDE57E6F505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gap is not job availability alone. It is verified trust, discoverability, and workflow visibility.</a:t>
            </a:r>
          </a:p>
        </p:txBody>
      </p:sp>
    </p:spTree>
    <p:extLst>
      <p:ext uri="{BB962C8B-B14F-4D97-AF65-F5344CB8AC3E}">
        <p14:creationId xmlns:p14="http://schemas.microsoft.com/office/powerpoint/2010/main" val="208437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rand-dot">
            <a:extLst>
              <a:ext uri="{FF2B5EF4-FFF2-40B4-BE49-F238E27FC236}">
                <a16:creationId xmlns:a16="http://schemas.microsoft.com/office/drawing/2014/main" id="{A08E07B8-4920-410D-A1D7-2C4DFB7A9322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9E3CB488-6C0E-430B-9370-D04F924FF05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2904F5A-4957-4857-B0FA-97001EB23123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KaushalSetu turns skills into a trusted hiring loop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BDF15CD8-711F-4BEF-A0F0-68B97D8700E8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role gets a focused workflow, but all three share the same verified data layer.</a:t>
            </a:r>
          </a:p>
        </p:txBody>
      </p:sp>
      <p:sp>
        <p:nvSpPr>
          <p:cNvPr id="5" name="footer-3">
            <a:extLst>
              <a:ext uri="{FF2B5EF4-FFF2-40B4-BE49-F238E27FC236}">
                <a16:creationId xmlns:a16="http://schemas.microsoft.com/office/drawing/2014/main" id="{FC98A930-F346-4D86-A3EB-C09B9D17E04B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solution-Worker">
            <a:extLst>
              <a:ext uri="{FF2B5EF4-FFF2-40B4-BE49-F238E27FC236}">
                <a16:creationId xmlns:a16="http://schemas.microsoft.com/office/drawing/2014/main" id="{2AD0CA60-6394-40E7-91F7-7BF19E1BEE5E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048000" cy="20955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olution-band-Worker">
            <a:extLst>
              <a:ext uri="{FF2B5EF4-FFF2-40B4-BE49-F238E27FC236}">
                <a16:creationId xmlns:a16="http://schemas.microsoft.com/office/drawing/2014/main" id="{F33ACA81-D54F-4430-B1DE-5A7DC7033C66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048000" cy="114300"/>
          </a:xfrm>
          <a:prstGeom prst="rect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8" name="solution-heading-Worker">
            <a:extLst>
              <a:ext uri="{FF2B5EF4-FFF2-40B4-BE49-F238E27FC236}">
                <a16:creationId xmlns:a16="http://schemas.microsoft.com/office/drawing/2014/main" id="{5E2D6A04-D082-4776-AA0D-32BB21853E5C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238"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Worker</a:t>
            </a:r>
          </a:p>
        </p:txBody>
      </p:sp>
      <p:sp>
        <p:nvSpPr>
          <p:cNvPr id="9" name="solution-body-Worker">
            <a:extLst>
              <a:ext uri="{FF2B5EF4-FFF2-40B4-BE49-F238E27FC236}">
                <a16:creationId xmlns:a16="http://schemas.microsoft.com/office/drawing/2014/main" id="{9258EFB7-C6F9-46EF-9E8D-B2234E2FD4D7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247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 profile</a:t>
            </a:r>
          </a:p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Add skills and certificates</a:t>
            </a:r>
          </a:p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Apply and message</a:t>
            </a:r>
          </a:p>
        </p:txBody>
      </p:sp>
      <p:sp>
        <p:nvSpPr>
          <p:cNvPr id="10" name="solution-KaushalSetu">
            <a:extLst>
              <a:ext uri="{FF2B5EF4-FFF2-40B4-BE49-F238E27FC236}">
                <a16:creationId xmlns:a16="http://schemas.microsoft.com/office/drawing/2014/main" id="{62C7A965-9A83-4904-A5DC-F38AA4227BE7}"/>
              </a:ext>
            </a:extLst>
          </p:cNvPr>
          <p:cNvSpPr>
            <a:spLocks noGrp="1"/>
          </p:cNvSpPr>
          <p:nvPr/>
        </p:nvSpPr>
        <p:spPr>
          <a:xfrm>
            <a:off x="4305300" y="2524125"/>
            <a:ext cx="3048000" cy="20955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olution-band-KaushalSetu">
            <a:extLst>
              <a:ext uri="{FF2B5EF4-FFF2-40B4-BE49-F238E27FC236}">
                <a16:creationId xmlns:a16="http://schemas.microsoft.com/office/drawing/2014/main" id="{CA1AA790-8FF2-4225-B44E-4002C37CE1DD}"/>
              </a:ext>
            </a:extLst>
          </p:cNvPr>
          <p:cNvSpPr>
            <a:spLocks noGrp="1"/>
          </p:cNvSpPr>
          <p:nvPr/>
        </p:nvSpPr>
        <p:spPr>
          <a:xfrm>
            <a:off x="4305300" y="2524125"/>
            <a:ext cx="3048000" cy="114300"/>
          </a:xfrm>
          <a:prstGeom prst="rect">
            <a:avLst/>
          </a:prstGeom>
          <a:solidFill>
            <a:srgbClr val="071B36"/>
          </a:solidFill>
          <a:ln w="0">
            <a:noFill/>
            <a:prstDash val="solid"/>
          </a:ln>
        </p:spPr>
      </p:sp>
      <p:sp>
        <p:nvSpPr>
          <p:cNvPr id="12" name="solution-heading-KaushalSetu">
            <a:extLst>
              <a:ext uri="{FF2B5EF4-FFF2-40B4-BE49-F238E27FC236}">
                <a16:creationId xmlns:a16="http://schemas.microsoft.com/office/drawing/2014/main" id="{42D24470-D0B6-4835-9ACE-58F055CD928A}"/>
              </a:ext>
            </a:extLst>
          </p:cNvPr>
          <p:cNvSpPr>
            <a:spLocks noGrp="1"/>
          </p:cNvSpPr>
          <p:nvPr/>
        </p:nvSpPr>
        <p:spPr>
          <a:xfrm>
            <a:off x="4572000" y="28956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238"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13" name="solution-body-KaushalSetu">
            <a:extLst>
              <a:ext uri="{FF2B5EF4-FFF2-40B4-BE49-F238E27FC236}">
                <a16:creationId xmlns:a16="http://schemas.microsoft.com/office/drawing/2014/main" id="{4FF46221-E4DE-4E16-B6D7-BDFB044E9759}"/>
              </a:ext>
            </a:extLst>
          </p:cNvPr>
          <p:cNvSpPr>
            <a:spLocks noGrp="1"/>
          </p:cNvSpPr>
          <p:nvPr/>
        </p:nvSpPr>
        <p:spPr>
          <a:xfrm>
            <a:off x="4572000" y="3448050"/>
            <a:ext cx="247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Trust score</a:t>
            </a:r>
          </a:p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Matching</a:t>
            </a:r>
          </a:p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Application tracking</a:t>
            </a:r>
          </a:p>
        </p:txBody>
      </p:sp>
      <p:sp>
        <p:nvSpPr>
          <p:cNvPr id="14" name="solution-Employer">
            <a:extLst>
              <a:ext uri="{FF2B5EF4-FFF2-40B4-BE49-F238E27FC236}">
                <a16:creationId xmlns:a16="http://schemas.microsoft.com/office/drawing/2014/main" id="{8BA8D1D8-31B2-47DD-99EC-12D42003A8BA}"/>
              </a:ext>
            </a:extLst>
          </p:cNvPr>
          <p:cNvSpPr>
            <a:spLocks noGrp="1"/>
          </p:cNvSpPr>
          <p:nvPr/>
        </p:nvSpPr>
        <p:spPr>
          <a:xfrm>
            <a:off x="8001000" y="2524125"/>
            <a:ext cx="3048000" cy="20955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olution-band-Employer">
            <a:extLst>
              <a:ext uri="{FF2B5EF4-FFF2-40B4-BE49-F238E27FC236}">
                <a16:creationId xmlns:a16="http://schemas.microsoft.com/office/drawing/2014/main" id="{1A41003B-75F4-4CCA-9C8C-3AC504DD6AE4}"/>
              </a:ext>
            </a:extLst>
          </p:cNvPr>
          <p:cNvSpPr>
            <a:spLocks noGrp="1"/>
          </p:cNvSpPr>
          <p:nvPr/>
        </p:nvSpPr>
        <p:spPr>
          <a:xfrm>
            <a:off x="8001000" y="2524125"/>
            <a:ext cx="3048000" cy="114300"/>
          </a:xfrm>
          <a:prstGeom prst="rect">
            <a:avLst/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16" name="solution-heading-Employer">
            <a:extLst>
              <a:ext uri="{FF2B5EF4-FFF2-40B4-BE49-F238E27FC236}">
                <a16:creationId xmlns:a16="http://schemas.microsoft.com/office/drawing/2014/main" id="{F2F6C9D2-DB64-4B12-91B0-D693174599DD}"/>
              </a:ext>
            </a:extLst>
          </p:cNvPr>
          <p:cNvSpPr>
            <a:spLocks noGrp="1"/>
          </p:cNvSpPr>
          <p:nvPr/>
        </p:nvSpPr>
        <p:spPr>
          <a:xfrm>
            <a:off x="8267700" y="28956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238"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Employer</a:t>
            </a:r>
          </a:p>
        </p:txBody>
      </p:sp>
      <p:sp>
        <p:nvSpPr>
          <p:cNvPr id="17" name="solution-body-Employer">
            <a:extLst>
              <a:ext uri="{FF2B5EF4-FFF2-40B4-BE49-F238E27FC236}">
                <a16:creationId xmlns:a16="http://schemas.microsoft.com/office/drawing/2014/main" id="{ECF2D830-DA71-45FC-B0F7-6FF6D3D12F4F}"/>
              </a:ext>
            </a:extLst>
          </p:cNvPr>
          <p:cNvSpPr>
            <a:spLocks noGrp="1"/>
          </p:cNvSpPr>
          <p:nvPr/>
        </p:nvSpPr>
        <p:spPr>
          <a:xfrm>
            <a:off x="8267700" y="3448050"/>
            <a:ext cx="247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Post jobs</a:t>
            </a:r>
          </a:p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Discover candidates</a:t>
            </a:r>
          </a:p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Move hiring stages</a:t>
            </a:r>
          </a:p>
        </p:txBody>
      </p:sp>
      <p:sp>
        <p:nvSpPr>
          <p:cNvPr id="18" name="arrow-1">
            <a:extLst>
              <a:ext uri="{FF2B5EF4-FFF2-40B4-BE49-F238E27FC236}">
                <a16:creationId xmlns:a16="http://schemas.microsoft.com/office/drawing/2014/main" id="{F3811D68-0C0D-4BAD-BB5B-04AAC7D675DB}"/>
              </a:ext>
            </a:extLst>
          </p:cNvPr>
          <p:cNvSpPr>
            <a:spLocks noGrp="1"/>
          </p:cNvSpPr>
          <p:nvPr/>
        </p:nvSpPr>
        <p:spPr>
          <a:xfrm>
            <a:off x="3762375" y="3209925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1667"/>
          </a:bodyPr>
          <a:lstStyle/>
          <a:p>
            <a:pPr algn="ctr">
              <a:defRPr sz="300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9" name="arrow-2">
            <a:extLst>
              <a:ext uri="{FF2B5EF4-FFF2-40B4-BE49-F238E27FC236}">
                <a16:creationId xmlns:a16="http://schemas.microsoft.com/office/drawing/2014/main" id="{6EAAD0C7-2C77-4CC0-A3FB-0D86D5E691F4}"/>
              </a:ext>
            </a:extLst>
          </p:cNvPr>
          <p:cNvSpPr>
            <a:spLocks noGrp="1"/>
          </p:cNvSpPr>
          <p:nvPr/>
        </p:nvSpPr>
        <p:spPr>
          <a:xfrm>
            <a:off x="7458075" y="3209925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1667"/>
          </a:bodyPr>
          <a:lstStyle/>
          <a:p>
            <a:pPr algn="ctr">
              <a:defRPr sz="300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0" name="admin-loop">
            <a:extLst>
              <a:ext uri="{FF2B5EF4-FFF2-40B4-BE49-F238E27FC236}">
                <a16:creationId xmlns:a16="http://schemas.microsoft.com/office/drawing/2014/main" id="{C158E85E-2D17-4FE1-85C7-4426BE9BD5C4}"/>
              </a:ext>
            </a:extLst>
          </p:cNvPr>
          <p:cNvSpPr>
            <a:spLocks noGrp="1"/>
          </p:cNvSpPr>
          <p:nvPr/>
        </p:nvSpPr>
        <p:spPr>
          <a:xfrm>
            <a:off x="2400300" y="5143500"/>
            <a:ext cx="7391400" cy="704850"/>
          </a:xfrm>
          <a:prstGeom prst="roundRect">
            <a:avLst>
              <a:gd name="adj" fmla="val 10811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admin-loop-text">
            <a:extLst>
              <a:ext uri="{FF2B5EF4-FFF2-40B4-BE49-F238E27FC236}">
                <a16:creationId xmlns:a16="http://schemas.microsoft.com/office/drawing/2014/main" id="{CA75596F-0084-415E-B907-76C3A018386A}"/>
              </a:ext>
            </a:extLst>
          </p:cNvPr>
          <p:cNvSpPr>
            <a:spLocks noGrp="1"/>
          </p:cNvSpPr>
          <p:nvPr/>
        </p:nvSpPr>
        <p:spPr>
          <a:xfrm>
            <a:off x="2714625" y="5324475"/>
            <a:ext cx="676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67450"/>
          </a:bodyPr>
          <a:lstStyle/>
          <a:p>
            <a:pPr algn="ctr">
              <a:defRPr sz="157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rPr>
              <a:t>Admin verification approves profiles and certificates, then those credentials strengthen worker trust and employer matching.</a:t>
            </a:r>
          </a:p>
        </p:txBody>
      </p:sp>
    </p:spTree>
    <p:extLst>
      <p:ext uri="{BB962C8B-B14F-4D97-AF65-F5344CB8AC3E}">
        <p14:creationId xmlns:p14="http://schemas.microsoft.com/office/powerpoint/2010/main" val="117540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rand-dot">
            <a:extLst>
              <a:ext uri="{FF2B5EF4-FFF2-40B4-BE49-F238E27FC236}">
                <a16:creationId xmlns:a16="http://schemas.microsoft.com/office/drawing/2014/main" id="{9D769E80-B10A-4B46-9D26-C57BA562FAB0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AFEC7BE1-2284-46D6-8337-20E21415CD7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72E884E-3469-4C4F-8E29-4DA7527F52F7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landing page sets expectations before login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3A874D89-2856-4789-BEFA-9AB70C7948D6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Light/dark themes, demo accounts, testimonials, and server wake feedback make the first experience clear.</a:t>
            </a:r>
          </a:p>
        </p:txBody>
      </p:sp>
      <p:sp>
        <p:nvSpPr>
          <p:cNvPr id="5" name="footer-4">
            <a:extLst>
              <a:ext uri="{FF2B5EF4-FFF2-40B4-BE49-F238E27FC236}">
                <a16:creationId xmlns:a16="http://schemas.microsoft.com/office/drawing/2014/main" id="{C529E9EB-585F-45E6-A59B-A79C1AA006EF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slot-Landing page screenshot">
            <a:extLst>
              <a:ext uri="{FF2B5EF4-FFF2-40B4-BE49-F238E27FC236}">
                <a16:creationId xmlns:a16="http://schemas.microsoft.com/office/drawing/2014/main" id="{A2BC0059-AE69-4B32-B533-B81F0202D0C3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6181982" cy="3810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ot-border-Landing page screenshot">
            <a:extLst>
              <a:ext uri="{FF2B5EF4-FFF2-40B4-BE49-F238E27FC236}">
                <a16:creationId xmlns:a16="http://schemas.microsoft.com/office/drawing/2014/main" id="{C928D731-205D-4765-9B0F-B92ACF0D8F01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5802922" cy="34671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8" name="slot-topbar-Landing page screenshot">
            <a:extLst>
              <a:ext uri="{FF2B5EF4-FFF2-40B4-BE49-F238E27FC236}">
                <a16:creationId xmlns:a16="http://schemas.microsoft.com/office/drawing/2014/main" id="{F026AFAD-15BF-47DE-9758-F534FDD3D3BE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5802922" cy="3238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9" name="slot-dot-1-Landing page screenshot">
            <a:extLst>
              <a:ext uri="{FF2B5EF4-FFF2-40B4-BE49-F238E27FC236}">
                <a16:creationId xmlns:a16="http://schemas.microsoft.com/office/drawing/2014/main" id="{C763FC9E-58C4-4CD3-8FD6-1C4E3523FF75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95250" cy="952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</p:sp>
      <p:sp>
        <p:nvSpPr>
          <p:cNvPr id="10" name="slot-dot-2-Landing page screenshot">
            <a:extLst>
              <a:ext uri="{FF2B5EF4-FFF2-40B4-BE49-F238E27FC236}">
                <a16:creationId xmlns:a16="http://schemas.microsoft.com/office/drawing/2014/main" id="{62A3F85F-8BC5-4FD7-B832-15F73DEB2237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95250" cy="95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1" name="slot-dot-3-Landing page screenshot">
            <a:extLst>
              <a:ext uri="{FF2B5EF4-FFF2-40B4-BE49-F238E27FC236}">
                <a16:creationId xmlns:a16="http://schemas.microsoft.com/office/drawing/2014/main" id="{ADDC8887-A843-4E60-AEE2-44958AF498BD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95250" cy="95250"/>
          </a:xfrm>
          <a:prstGeom prst="ellipse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12" name="slot-title-Landing page screenshot">
            <a:extLst>
              <a:ext uri="{FF2B5EF4-FFF2-40B4-BE49-F238E27FC236}">
                <a16:creationId xmlns:a16="http://schemas.microsoft.com/office/drawing/2014/main" id="{D2C56128-590F-4BD8-86CD-944C7261C60C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5410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Landing page screenshot</a:t>
            </a:r>
          </a:p>
        </p:txBody>
      </p:sp>
      <p:sp>
        <p:nvSpPr>
          <p:cNvPr id="13" name="slot-caption-Landing page screenshot">
            <a:extLst>
              <a:ext uri="{FF2B5EF4-FFF2-40B4-BE49-F238E27FC236}">
                <a16:creationId xmlns:a16="http://schemas.microsoft.com/office/drawing/2014/main" id="{C26A5C5C-DF16-447E-AFAF-DB018763D09B}"/>
              </a:ext>
            </a:extLst>
          </p:cNvPr>
          <p:cNvSpPr>
            <a:spLocks noGrp="1"/>
          </p:cNvSpPr>
          <p:nvPr/>
        </p:nvSpPr>
        <p:spPr>
          <a:xfrm>
            <a:off x="1123950" y="4133850"/>
            <a:ext cx="4838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the home page showing hero, theme toggle, and testimonials.</a:t>
            </a:r>
          </a:p>
        </p:txBody>
      </p:sp>
      <p:sp>
        <p:nvSpPr>
          <p:cNvPr id="14" name="landing-check-0">
            <a:extLst>
              <a:ext uri="{FF2B5EF4-FFF2-40B4-BE49-F238E27FC236}">
                <a16:creationId xmlns:a16="http://schemas.microsoft.com/office/drawing/2014/main" id="{310B29F6-784E-45C9-9E33-12227336E665}"/>
              </a:ext>
            </a:extLst>
          </p:cNvPr>
          <p:cNvSpPr>
            <a:spLocks noGrp="1"/>
          </p:cNvSpPr>
          <p:nvPr/>
        </p:nvSpPr>
        <p:spPr>
          <a:xfrm>
            <a:off x="7124700" y="2266950"/>
            <a:ext cx="171450" cy="17145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15" name="landing-heading-0">
            <a:extLst>
              <a:ext uri="{FF2B5EF4-FFF2-40B4-BE49-F238E27FC236}">
                <a16:creationId xmlns:a16="http://schemas.microsoft.com/office/drawing/2014/main" id="{74EEA86A-05EC-4C38-BB4C-3711AB2FD9E2}"/>
              </a:ext>
            </a:extLst>
          </p:cNvPr>
          <p:cNvSpPr>
            <a:spLocks noGrp="1"/>
          </p:cNvSpPr>
          <p:nvPr/>
        </p:nvSpPr>
        <p:spPr>
          <a:xfrm>
            <a:off x="7486650" y="22098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6956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Theme toggle</a:t>
            </a:r>
          </a:p>
        </p:txBody>
      </p:sp>
      <p:sp>
        <p:nvSpPr>
          <p:cNvPr id="16" name="landing-body-0">
            <a:extLst>
              <a:ext uri="{FF2B5EF4-FFF2-40B4-BE49-F238E27FC236}">
                <a16:creationId xmlns:a16="http://schemas.microsoft.com/office/drawing/2014/main" id="{6EB53C23-6E13-4807-AB76-A4B97F8B9DE7}"/>
              </a:ext>
            </a:extLst>
          </p:cNvPr>
          <p:cNvSpPr>
            <a:spLocks noGrp="1"/>
          </p:cNvSpPr>
          <p:nvPr/>
        </p:nvSpPr>
        <p:spPr>
          <a:xfrm>
            <a:off x="7486650" y="25336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Instant light and dark mode switching.</a:t>
            </a:r>
          </a:p>
        </p:txBody>
      </p:sp>
      <p:sp>
        <p:nvSpPr>
          <p:cNvPr id="17" name="landing-check-1">
            <a:extLst>
              <a:ext uri="{FF2B5EF4-FFF2-40B4-BE49-F238E27FC236}">
                <a16:creationId xmlns:a16="http://schemas.microsoft.com/office/drawing/2014/main" id="{4F4A2B06-E8E2-4F64-AC68-0D510F3F6508}"/>
              </a:ext>
            </a:extLst>
          </p:cNvPr>
          <p:cNvSpPr>
            <a:spLocks noGrp="1"/>
          </p:cNvSpPr>
          <p:nvPr/>
        </p:nvSpPr>
        <p:spPr>
          <a:xfrm>
            <a:off x="7124700" y="3124200"/>
            <a:ext cx="171450" cy="17145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18" name="landing-heading-1">
            <a:extLst>
              <a:ext uri="{FF2B5EF4-FFF2-40B4-BE49-F238E27FC236}">
                <a16:creationId xmlns:a16="http://schemas.microsoft.com/office/drawing/2014/main" id="{A1164EE0-2D6B-4914-92B2-C0FB78467B5B}"/>
              </a:ext>
            </a:extLst>
          </p:cNvPr>
          <p:cNvSpPr>
            <a:spLocks noGrp="1"/>
          </p:cNvSpPr>
          <p:nvPr/>
        </p:nvSpPr>
        <p:spPr>
          <a:xfrm>
            <a:off x="7486650" y="30670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6956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Swiper testimonials</a:t>
            </a:r>
          </a:p>
        </p:txBody>
      </p:sp>
      <p:sp>
        <p:nvSpPr>
          <p:cNvPr id="19" name="landing-body-1">
            <a:extLst>
              <a:ext uri="{FF2B5EF4-FFF2-40B4-BE49-F238E27FC236}">
                <a16:creationId xmlns:a16="http://schemas.microsoft.com/office/drawing/2014/main" id="{5B0C58E1-ACBB-4E97-9765-25615ADAF3F2}"/>
              </a:ext>
            </a:extLst>
          </p:cNvPr>
          <p:cNvSpPr>
            <a:spLocks noGrp="1"/>
          </p:cNvSpPr>
          <p:nvPr/>
        </p:nvSpPr>
        <p:spPr>
          <a:xfrm>
            <a:off x="7486650" y="33909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Social proof in a compact carousel.</a:t>
            </a:r>
          </a:p>
        </p:txBody>
      </p:sp>
      <p:sp>
        <p:nvSpPr>
          <p:cNvPr id="20" name="landing-check-2">
            <a:extLst>
              <a:ext uri="{FF2B5EF4-FFF2-40B4-BE49-F238E27FC236}">
                <a16:creationId xmlns:a16="http://schemas.microsoft.com/office/drawing/2014/main" id="{A5E6C4F2-FC24-4E10-9BCF-DE45594520D2}"/>
              </a:ext>
            </a:extLst>
          </p:cNvPr>
          <p:cNvSpPr>
            <a:spLocks noGrp="1"/>
          </p:cNvSpPr>
          <p:nvPr/>
        </p:nvSpPr>
        <p:spPr>
          <a:xfrm>
            <a:off x="7124700" y="3981450"/>
            <a:ext cx="171450" cy="17145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1" name="landing-heading-2">
            <a:extLst>
              <a:ext uri="{FF2B5EF4-FFF2-40B4-BE49-F238E27FC236}">
                <a16:creationId xmlns:a16="http://schemas.microsoft.com/office/drawing/2014/main" id="{9867781F-A06C-4EF0-9A10-809EA20F88EA}"/>
              </a:ext>
            </a:extLst>
          </p:cNvPr>
          <p:cNvSpPr>
            <a:spLocks noGrp="1"/>
          </p:cNvSpPr>
          <p:nvPr/>
        </p:nvSpPr>
        <p:spPr>
          <a:xfrm>
            <a:off x="7486650" y="3924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6956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Demo roles</a:t>
            </a:r>
          </a:p>
        </p:txBody>
      </p:sp>
      <p:sp>
        <p:nvSpPr>
          <p:cNvPr id="22" name="landing-body-2">
            <a:extLst>
              <a:ext uri="{FF2B5EF4-FFF2-40B4-BE49-F238E27FC236}">
                <a16:creationId xmlns:a16="http://schemas.microsoft.com/office/drawing/2014/main" id="{ECDA2B43-B563-4901-9F66-962A64EDB75B}"/>
              </a:ext>
            </a:extLst>
          </p:cNvPr>
          <p:cNvSpPr>
            <a:spLocks noGrp="1"/>
          </p:cNvSpPr>
          <p:nvPr/>
        </p:nvSpPr>
        <p:spPr>
          <a:xfrm>
            <a:off x="7486650" y="42481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7332"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Worker, Employer, and Admin accounts are ready for judges.</a:t>
            </a:r>
          </a:p>
        </p:txBody>
      </p:sp>
      <p:sp>
        <p:nvSpPr>
          <p:cNvPr id="23" name="landing-check-3">
            <a:extLst>
              <a:ext uri="{FF2B5EF4-FFF2-40B4-BE49-F238E27FC236}">
                <a16:creationId xmlns:a16="http://schemas.microsoft.com/office/drawing/2014/main" id="{8C8C6522-0FA5-4C12-B6B6-A723F7ECF0A0}"/>
              </a:ext>
            </a:extLst>
          </p:cNvPr>
          <p:cNvSpPr>
            <a:spLocks noGrp="1"/>
          </p:cNvSpPr>
          <p:nvPr/>
        </p:nvSpPr>
        <p:spPr>
          <a:xfrm>
            <a:off x="7124700" y="4838700"/>
            <a:ext cx="171450" cy="17145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4" name="landing-heading-3">
            <a:extLst>
              <a:ext uri="{FF2B5EF4-FFF2-40B4-BE49-F238E27FC236}">
                <a16:creationId xmlns:a16="http://schemas.microsoft.com/office/drawing/2014/main" id="{3712BB49-D2BE-479B-80A6-35F14EEC8EC3}"/>
              </a:ext>
            </a:extLst>
          </p:cNvPr>
          <p:cNvSpPr>
            <a:spLocks noGrp="1"/>
          </p:cNvSpPr>
          <p:nvPr/>
        </p:nvSpPr>
        <p:spPr>
          <a:xfrm>
            <a:off x="7486650" y="47815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6956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Render wake toast</a:t>
            </a:r>
          </a:p>
        </p:txBody>
      </p:sp>
      <p:sp>
        <p:nvSpPr>
          <p:cNvPr id="25" name="landing-body-3">
            <a:extLst>
              <a:ext uri="{FF2B5EF4-FFF2-40B4-BE49-F238E27FC236}">
                <a16:creationId xmlns:a16="http://schemas.microsoft.com/office/drawing/2014/main" id="{D64E7142-B020-492C-8798-DDCE02FDED6E}"/>
              </a:ext>
            </a:extLst>
          </p:cNvPr>
          <p:cNvSpPr>
            <a:spLocks noGrp="1"/>
          </p:cNvSpPr>
          <p:nvPr/>
        </p:nvSpPr>
        <p:spPr>
          <a:xfrm>
            <a:off x="7486650" y="51054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6079"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Users see a clear message if the backend is waking up.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A9AB8A2-4088-F374-5BFF-C001C2C03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8900"/>
            <a:ext cx="5802922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6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rand-dot">
            <a:extLst>
              <a:ext uri="{FF2B5EF4-FFF2-40B4-BE49-F238E27FC236}">
                <a16:creationId xmlns:a16="http://schemas.microsoft.com/office/drawing/2014/main" id="{04E6AC50-BD2A-4B15-B888-27D237AD715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F87CE483-8742-41BE-937C-EAD76E933CC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19FA8D6-54A9-4B4F-9700-61661D9CB0D3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Workers build a profile employers can trust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327000C6-EB93-49DD-8F4D-6B2A935DE08A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worker can keep skills, qualifications, experience, certificates, and Trust Score in one professional identity.</a:t>
            </a:r>
          </a:p>
        </p:txBody>
      </p:sp>
      <p:sp>
        <p:nvSpPr>
          <p:cNvPr id="5" name="footer-5">
            <a:extLst>
              <a:ext uri="{FF2B5EF4-FFF2-40B4-BE49-F238E27FC236}">
                <a16:creationId xmlns:a16="http://schemas.microsoft.com/office/drawing/2014/main" id="{1C5BF0A3-5BC3-4C86-8DC3-1AE75F81874E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slot-Worker dashboard / profile">
            <a:extLst>
              <a:ext uri="{FF2B5EF4-FFF2-40B4-BE49-F238E27FC236}">
                <a16:creationId xmlns:a16="http://schemas.microsoft.com/office/drawing/2014/main" id="{F5523A06-E808-4476-8487-09D966B2466E}"/>
              </a:ext>
            </a:extLst>
          </p:cNvPr>
          <p:cNvSpPr>
            <a:spLocks noGrp="1"/>
          </p:cNvSpPr>
          <p:nvPr/>
        </p:nvSpPr>
        <p:spPr>
          <a:xfrm>
            <a:off x="6553200" y="2000250"/>
            <a:ext cx="5219700" cy="3271966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ot-border-Worker dashboard / profile">
            <a:extLst>
              <a:ext uri="{FF2B5EF4-FFF2-40B4-BE49-F238E27FC236}">
                <a16:creationId xmlns:a16="http://schemas.microsoft.com/office/drawing/2014/main" id="{1A9A382D-9D41-443D-9506-339E1FBA6E94}"/>
              </a:ext>
            </a:extLst>
          </p:cNvPr>
          <p:cNvSpPr>
            <a:spLocks noGrp="1"/>
          </p:cNvSpPr>
          <p:nvPr/>
        </p:nvSpPr>
        <p:spPr>
          <a:xfrm>
            <a:off x="6724650" y="2171700"/>
            <a:ext cx="4876800" cy="29146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8" name="slot-topbar-Worker dashboard / profile">
            <a:extLst>
              <a:ext uri="{FF2B5EF4-FFF2-40B4-BE49-F238E27FC236}">
                <a16:creationId xmlns:a16="http://schemas.microsoft.com/office/drawing/2014/main" id="{25B58ECA-0EA5-4447-9B98-9730849CF763}"/>
              </a:ext>
            </a:extLst>
          </p:cNvPr>
          <p:cNvSpPr>
            <a:spLocks noGrp="1"/>
          </p:cNvSpPr>
          <p:nvPr/>
        </p:nvSpPr>
        <p:spPr>
          <a:xfrm>
            <a:off x="6724650" y="2171700"/>
            <a:ext cx="4876800" cy="3238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9" name="slot-dot-1-Worker dashboard / profile">
            <a:extLst>
              <a:ext uri="{FF2B5EF4-FFF2-40B4-BE49-F238E27FC236}">
                <a16:creationId xmlns:a16="http://schemas.microsoft.com/office/drawing/2014/main" id="{E4FFF005-C962-477A-9205-2E1A8AC07710}"/>
              </a:ext>
            </a:extLst>
          </p:cNvPr>
          <p:cNvSpPr>
            <a:spLocks noGrp="1"/>
          </p:cNvSpPr>
          <p:nvPr/>
        </p:nvSpPr>
        <p:spPr>
          <a:xfrm>
            <a:off x="6877050" y="2286000"/>
            <a:ext cx="95250" cy="952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</p:sp>
      <p:sp>
        <p:nvSpPr>
          <p:cNvPr id="10" name="slot-dot-2-Worker dashboard / profile">
            <a:extLst>
              <a:ext uri="{FF2B5EF4-FFF2-40B4-BE49-F238E27FC236}">
                <a16:creationId xmlns:a16="http://schemas.microsoft.com/office/drawing/2014/main" id="{2553DABA-D6CA-4BC3-9774-071CB93490A5}"/>
              </a:ext>
            </a:extLst>
          </p:cNvPr>
          <p:cNvSpPr>
            <a:spLocks noGrp="1"/>
          </p:cNvSpPr>
          <p:nvPr/>
        </p:nvSpPr>
        <p:spPr>
          <a:xfrm>
            <a:off x="7029450" y="2286000"/>
            <a:ext cx="95250" cy="95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1" name="slot-dot-3-Worker dashboard / profile">
            <a:extLst>
              <a:ext uri="{FF2B5EF4-FFF2-40B4-BE49-F238E27FC236}">
                <a16:creationId xmlns:a16="http://schemas.microsoft.com/office/drawing/2014/main" id="{A06E1FF4-760A-49F4-957B-EAD1F25F29FF}"/>
              </a:ext>
            </a:extLst>
          </p:cNvPr>
          <p:cNvSpPr>
            <a:spLocks noGrp="1"/>
          </p:cNvSpPr>
          <p:nvPr/>
        </p:nvSpPr>
        <p:spPr>
          <a:xfrm>
            <a:off x="7181850" y="2286000"/>
            <a:ext cx="95250" cy="95250"/>
          </a:xfrm>
          <a:prstGeom prst="ellipse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12" name="slot-title-Worker dashboard / profile">
            <a:extLst>
              <a:ext uri="{FF2B5EF4-FFF2-40B4-BE49-F238E27FC236}">
                <a16:creationId xmlns:a16="http://schemas.microsoft.com/office/drawing/2014/main" id="{CAFB99A7-BBB2-4941-B980-C6871ABEBB2C}"/>
              </a:ext>
            </a:extLst>
          </p:cNvPr>
          <p:cNvSpPr>
            <a:spLocks noGrp="1"/>
          </p:cNvSpPr>
          <p:nvPr/>
        </p:nvSpPr>
        <p:spPr>
          <a:xfrm>
            <a:off x="6991350" y="3629025"/>
            <a:ext cx="434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Worker dashboard / profile</a:t>
            </a:r>
          </a:p>
        </p:txBody>
      </p:sp>
      <p:sp>
        <p:nvSpPr>
          <p:cNvPr id="13" name="slot-caption-Worker dashboard / profile">
            <a:extLst>
              <a:ext uri="{FF2B5EF4-FFF2-40B4-BE49-F238E27FC236}">
                <a16:creationId xmlns:a16="http://schemas.microsoft.com/office/drawing/2014/main" id="{B7A3F3AF-E761-4B43-9E24-617D9C76AC07}"/>
              </a:ext>
            </a:extLst>
          </p:cNvPr>
          <p:cNvSpPr>
            <a:spLocks noGrp="1"/>
          </p:cNvSpPr>
          <p:nvPr/>
        </p:nvSpPr>
        <p:spPr>
          <a:xfrm>
            <a:off x="7277100" y="4048125"/>
            <a:ext cx="3771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Replace with Trust Score and profile preview screen.</a:t>
            </a:r>
          </a:p>
        </p:txBody>
      </p:sp>
      <p:sp>
        <p:nvSpPr>
          <p:cNvPr id="14" name="trust-score-panel">
            <a:extLst>
              <a:ext uri="{FF2B5EF4-FFF2-40B4-BE49-F238E27FC236}">
                <a16:creationId xmlns:a16="http://schemas.microsoft.com/office/drawing/2014/main" id="{7FD127D7-4297-4D5B-B70A-55789DC787F5}"/>
              </a:ext>
            </a:extLst>
          </p:cNvPr>
          <p:cNvSpPr>
            <a:spLocks noGrp="1"/>
          </p:cNvSpPr>
          <p:nvPr/>
        </p:nvSpPr>
        <p:spPr>
          <a:xfrm>
            <a:off x="304800" y="2381249"/>
            <a:ext cx="2552700" cy="2705101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rust-ring-outer">
            <a:extLst>
              <a:ext uri="{FF2B5EF4-FFF2-40B4-BE49-F238E27FC236}">
                <a16:creationId xmlns:a16="http://schemas.microsoft.com/office/drawing/2014/main" id="{DBCDF12B-67E5-4FC2-8226-666410F2E040}"/>
              </a:ext>
            </a:extLst>
          </p:cNvPr>
          <p:cNvSpPr>
            <a:spLocks noGrp="1"/>
          </p:cNvSpPr>
          <p:nvPr/>
        </p:nvSpPr>
        <p:spPr>
          <a:xfrm>
            <a:off x="1028700" y="2647949"/>
            <a:ext cx="1104900" cy="1104900"/>
          </a:xfrm>
          <a:prstGeom prst="ellipse">
            <a:avLst/>
          </a:prstGeom>
          <a:solidFill>
            <a:srgbClr val="69D38B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rust-ring-inner">
            <a:extLst>
              <a:ext uri="{FF2B5EF4-FFF2-40B4-BE49-F238E27FC236}">
                <a16:creationId xmlns:a16="http://schemas.microsoft.com/office/drawing/2014/main" id="{FFCED566-CBCB-45B1-BF74-6F502FAC4C5E}"/>
              </a:ext>
            </a:extLst>
          </p:cNvPr>
          <p:cNvSpPr>
            <a:spLocks noGrp="1"/>
          </p:cNvSpPr>
          <p:nvPr/>
        </p:nvSpPr>
        <p:spPr>
          <a:xfrm>
            <a:off x="1266825" y="2876550"/>
            <a:ext cx="628650" cy="6286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rust-score">
            <a:extLst>
              <a:ext uri="{FF2B5EF4-FFF2-40B4-BE49-F238E27FC236}">
                <a16:creationId xmlns:a16="http://schemas.microsoft.com/office/drawing/2014/main" id="{8055E855-658D-4F13-939F-5B8F9FE4B677}"/>
              </a:ext>
            </a:extLst>
          </p:cNvPr>
          <p:cNvSpPr>
            <a:spLocks noGrp="1"/>
          </p:cNvSpPr>
          <p:nvPr/>
        </p:nvSpPr>
        <p:spPr>
          <a:xfrm>
            <a:off x="1028700" y="3019425"/>
            <a:ext cx="110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86420" lnSpcReduction="10000"/>
          </a:bodyPr>
          <a:lstStyle/>
          <a:p>
            <a:pPr algn="ctr"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82</a:t>
            </a:r>
          </a:p>
        </p:txBody>
      </p:sp>
      <p:sp>
        <p:nvSpPr>
          <p:cNvPr id="18" name="trust-label">
            <a:extLst>
              <a:ext uri="{FF2B5EF4-FFF2-40B4-BE49-F238E27FC236}">
                <a16:creationId xmlns:a16="http://schemas.microsoft.com/office/drawing/2014/main" id="{53BA8BF5-56FA-4A9C-A3C2-BE672D2143D8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238"/>
          </a:bodyPr>
          <a:lstStyle/>
          <a:p>
            <a:pPr algn="ctr"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Kaushal Trust Score</a:t>
            </a:r>
          </a:p>
        </p:txBody>
      </p:sp>
      <p:sp>
        <p:nvSpPr>
          <p:cNvPr id="19" name="trust-copy">
            <a:extLst>
              <a:ext uri="{FF2B5EF4-FFF2-40B4-BE49-F238E27FC236}">
                <a16:creationId xmlns:a16="http://schemas.microsoft.com/office/drawing/2014/main" id="{28DB19F2-5895-44F4-A1C4-FB7016623682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924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7728"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Transparent profile strength, updated as credentials improve.</a:t>
            </a:r>
          </a:p>
        </p:txBody>
      </p:sp>
      <p:sp>
        <p:nvSpPr>
          <p:cNvPr id="20" name="bullet-list">
            <a:extLst>
              <a:ext uri="{FF2B5EF4-FFF2-40B4-BE49-F238E27FC236}">
                <a16:creationId xmlns:a16="http://schemas.microsoft.com/office/drawing/2014/main" id="{D4D00EE8-2F51-47E5-9224-462AB6CC0633}"/>
              </a:ext>
            </a:extLst>
          </p:cNvPr>
          <p:cNvSpPr>
            <a:spLocks noGrp="1"/>
          </p:cNvSpPr>
          <p:nvPr/>
        </p:nvSpPr>
        <p:spPr>
          <a:xfrm>
            <a:off x="3219450" y="2400300"/>
            <a:ext cx="285750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564"/>
          </a:bodyPr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Skills, qualifications, experience, and languages live together.</a:t>
            </a:r>
          </a:p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New certificates enter an admin verification queue.</a:t>
            </a:r>
          </a:p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Approved credentials strengthen the profile and trust score.</a:t>
            </a:r>
          </a:p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Workers can update their profile as they learn and gain experience.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BAED7F3-947A-116D-96D2-9DC67D174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2514600"/>
            <a:ext cx="48768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2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rand-dot">
            <a:extLst>
              <a:ext uri="{FF2B5EF4-FFF2-40B4-BE49-F238E27FC236}">
                <a16:creationId xmlns:a16="http://schemas.microsoft.com/office/drawing/2014/main" id="{9B9A7BDA-B7BE-4D16-96C4-85DE8BCBB9D8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E6E558F7-3FF4-48A3-877F-2C929B8B7D3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70FB722-C818-4236-B4A7-94B9085F4A80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Workers move from discovery to conversation without leaving the app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B441A203-5097-4A40-BC5F-DAEDCD18EBD2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job journey stays traceable from recommendation to application status to real-time chat.</a:t>
            </a:r>
          </a:p>
        </p:txBody>
      </p:sp>
      <p:sp>
        <p:nvSpPr>
          <p:cNvPr id="5" name="footer-6">
            <a:extLst>
              <a:ext uri="{FF2B5EF4-FFF2-40B4-BE49-F238E27FC236}">
                <a16:creationId xmlns:a16="http://schemas.microsoft.com/office/drawing/2014/main" id="{E77D4399-3453-4A04-B713-D5BF8BA2AC93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slot-Jobs and applications">
            <a:extLst>
              <a:ext uri="{FF2B5EF4-FFF2-40B4-BE49-F238E27FC236}">
                <a16:creationId xmlns:a16="http://schemas.microsoft.com/office/drawing/2014/main" id="{3AE18740-D29E-4102-9198-2C3136784139}"/>
              </a:ext>
            </a:extLst>
          </p:cNvPr>
          <p:cNvSpPr>
            <a:spLocks noGrp="1"/>
          </p:cNvSpPr>
          <p:nvPr/>
        </p:nvSpPr>
        <p:spPr>
          <a:xfrm>
            <a:off x="400050" y="2114550"/>
            <a:ext cx="4876800" cy="3034099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ot-border-Jobs and applications">
            <a:extLst>
              <a:ext uri="{FF2B5EF4-FFF2-40B4-BE49-F238E27FC236}">
                <a16:creationId xmlns:a16="http://schemas.microsoft.com/office/drawing/2014/main" id="{D61C3D29-BF59-4969-AAC1-A94650352DCE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4533900" cy="2689655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8" name="slot-topbar-Jobs and applications">
            <a:extLst>
              <a:ext uri="{FF2B5EF4-FFF2-40B4-BE49-F238E27FC236}">
                <a16:creationId xmlns:a16="http://schemas.microsoft.com/office/drawing/2014/main" id="{88D5F752-9595-48DB-B1B6-AB9984365E67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4533900" cy="3238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9" name="slot-dot-1-Jobs and applications">
            <a:extLst>
              <a:ext uri="{FF2B5EF4-FFF2-40B4-BE49-F238E27FC236}">
                <a16:creationId xmlns:a16="http://schemas.microsoft.com/office/drawing/2014/main" id="{E104AE61-CED0-47EE-AAB6-D78D28C12EC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95250" cy="952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</p:sp>
      <p:sp>
        <p:nvSpPr>
          <p:cNvPr id="10" name="slot-dot-2-Jobs and applications">
            <a:extLst>
              <a:ext uri="{FF2B5EF4-FFF2-40B4-BE49-F238E27FC236}">
                <a16:creationId xmlns:a16="http://schemas.microsoft.com/office/drawing/2014/main" id="{F342E8DE-B586-4DA7-8C83-179596C7C377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95250" cy="95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1" name="slot-dot-3-Jobs and applications">
            <a:extLst>
              <a:ext uri="{FF2B5EF4-FFF2-40B4-BE49-F238E27FC236}">
                <a16:creationId xmlns:a16="http://schemas.microsoft.com/office/drawing/2014/main" id="{F48F8020-D107-4F4A-A3F8-EF5C3AA2817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95250" cy="95250"/>
          </a:xfrm>
          <a:prstGeom prst="ellipse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12" name="slot-title-Jobs and applications">
            <a:extLst>
              <a:ext uri="{FF2B5EF4-FFF2-40B4-BE49-F238E27FC236}">
                <a16:creationId xmlns:a16="http://schemas.microsoft.com/office/drawing/2014/main" id="{E73BFD30-A9F4-4CF8-8FB0-F5EF772D14E5}"/>
              </a:ext>
            </a:extLst>
          </p:cNvPr>
          <p:cNvSpPr>
            <a:spLocks noGrp="1"/>
          </p:cNvSpPr>
          <p:nvPr/>
        </p:nvSpPr>
        <p:spPr>
          <a:xfrm>
            <a:off x="838200" y="35433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Jobs and applications</a:t>
            </a:r>
          </a:p>
        </p:txBody>
      </p:sp>
      <p:sp>
        <p:nvSpPr>
          <p:cNvPr id="13" name="slot-caption-Jobs and applications">
            <a:extLst>
              <a:ext uri="{FF2B5EF4-FFF2-40B4-BE49-F238E27FC236}">
                <a16:creationId xmlns:a16="http://schemas.microsoft.com/office/drawing/2014/main" id="{CCE17DB5-EBBB-4723-9A51-96260CAF8E45}"/>
              </a:ext>
            </a:extLst>
          </p:cNvPr>
          <p:cNvSpPr>
            <a:spLocks noGrp="1"/>
          </p:cNvSpPr>
          <p:nvPr/>
        </p:nvSpPr>
        <p:spPr>
          <a:xfrm>
            <a:off x="1123950" y="39624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available jobs, one-click apply, and status tracking.</a:t>
            </a:r>
          </a:p>
        </p:txBody>
      </p:sp>
      <p:sp>
        <p:nvSpPr>
          <p:cNvPr id="14" name="slot-Messages">
            <a:extLst>
              <a:ext uri="{FF2B5EF4-FFF2-40B4-BE49-F238E27FC236}">
                <a16:creationId xmlns:a16="http://schemas.microsoft.com/office/drawing/2014/main" id="{4DD59465-4FFA-4AAF-AB6D-3D055C9C2194}"/>
              </a:ext>
            </a:extLst>
          </p:cNvPr>
          <p:cNvSpPr>
            <a:spLocks noGrp="1"/>
          </p:cNvSpPr>
          <p:nvPr/>
        </p:nvSpPr>
        <p:spPr>
          <a:xfrm>
            <a:off x="5829300" y="2114550"/>
            <a:ext cx="2705100" cy="3424495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lot-border-Messages">
            <a:extLst>
              <a:ext uri="{FF2B5EF4-FFF2-40B4-BE49-F238E27FC236}">
                <a16:creationId xmlns:a16="http://schemas.microsoft.com/office/drawing/2014/main" id="{229CA9A4-824C-4B74-880C-7ACF425C31DB}"/>
              </a:ext>
            </a:extLst>
          </p:cNvPr>
          <p:cNvSpPr>
            <a:spLocks noGrp="1"/>
          </p:cNvSpPr>
          <p:nvPr/>
        </p:nvSpPr>
        <p:spPr>
          <a:xfrm>
            <a:off x="5981700" y="2286000"/>
            <a:ext cx="2362200" cy="303786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16" name="slot-topbar-Messages">
            <a:extLst>
              <a:ext uri="{FF2B5EF4-FFF2-40B4-BE49-F238E27FC236}">
                <a16:creationId xmlns:a16="http://schemas.microsoft.com/office/drawing/2014/main" id="{AFDFDA77-F680-45C5-8111-2305677A4277}"/>
              </a:ext>
            </a:extLst>
          </p:cNvPr>
          <p:cNvSpPr>
            <a:spLocks noGrp="1"/>
          </p:cNvSpPr>
          <p:nvPr/>
        </p:nvSpPr>
        <p:spPr>
          <a:xfrm>
            <a:off x="5981700" y="2286000"/>
            <a:ext cx="2362200" cy="3238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7" name="slot-dot-1-Messages">
            <a:extLst>
              <a:ext uri="{FF2B5EF4-FFF2-40B4-BE49-F238E27FC236}">
                <a16:creationId xmlns:a16="http://schemas.microsoft.com/office/drawing/2014/main" id="{F11506AA-2B51-448B-8C2E-279CE191588F}"/>
              </a:ext>
            </a:extLst>
          </p:cNvPr>
          <p:cNvSpPr>
            <a:spLocks noGrp="1"/>
          </p:cNvSpPr>
          <p:nvPr/>
        </p:nvSpPr>
        <p:spPr>
          <a:xfrm>
            <a:off x="6134100" y="2400300"/>
            <a:ext cx="95250" cy="952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</p:sp>
      <p:sp>
        <p:nvSpPr>
          <p:cNvPr id="18" name="slot-dot-2-Messages">
            <a:extLst>
              <a:ext uri="{FF2B5EF4-FFF2-40B4-BE49-F238E27FC236}">
                <a16:creationId xmlns:a16="http://schemas.microsoft.com/office/drawing/2014/main" id="{31BDFEC8-41AC-4DD1-9A3E-782588383563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95250" cy="95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9" name="slot-dot-3-Messages">
            <a:extLst>
              <a:ext uri="{FF2B5EF4-FFF2-40B4-BE49-F238E27FC236}">
                <a16:creationId xmlns:a16="http://schemas.microsoft.com/office/drawing/2014/main" id="{A1E15E41-67DB-4CCC-AABE-1688BF0B49CB}"/>
              </a:ext>
            </a:extLst>
          </p:cNvPr>
          <p:cNvSpPr>
            <a:spLocks noGrp="1"/>
          </p:cNvSpPr>
          <p:nvPr/>
        </p:nvSpPr>
        <p:spPr>
          <a:xfrm>
            <a:off x="6438900" y="2400300"/>
            <a:ext cx="95250" cy="95250"/>
          </a:xfrm>
          <a:prstGeom prst="ellipse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0" name="slot-title-Messages">
            <a:extLst>
              <a:ext uri="{FF2B5EF4-FFF2-40B4-BE49-F238E27FC236}">
                <a16:creationId xmlns:a16="http://schemas.microsoft.com/office/drawing/2014/main" id="{4B3CB024-306C-4584-B220-659AC9D844EF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Messages</a:t>
            </a:r>
          </a:p>
        </p:txBody>
      </p:sp>
      <p:sp>
        <p:nvSpPr>
          <p:cNvPr id="21" name="slot-caption-Messages">
            <a:extLst>
              <a:ext uri="{FF2B5EF4-FFF2-40B4-BE49-F238E27FC236}">
                <a16:creationId xmlns:a16="http://schemas.microsoft.com/office/drawing/2014/main" id="{767433C4-C920-4FE8-98D8-083EE3B2EEDB}"/>
              </a:ext>
            </a:extLst>
          </p:cNvPr>
          <p:cNvSpPr>
            <a:spLocks noGrp="1"/>
          </p:cNvSpPr>
          <p:nvPr/>
        </p:nvSpPr>
        <p:spPr>
          <a:xfrm>
            <a:off x="6534150" y="3962400"/>
            <a:ext cx="1257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Socket.IO real-time chat.</a:t>
            </a:r>
          </a:p>
        </p:txBody>
      </p:sp>
      <p:sp>
        <p:nvSpPr>
          <p:cNvPr id="22" name="worker-flow">
            <a:extLst>
              <a:ext uri="{FF2B5EF4-FFF2-40B4-BE49-F238E27FC236}">
                <a16:creationId xmlns:a16="http://schemas.microsoft.com/office/drawing/2014/main" id="{D4EAEA92-A120-4200-93DC-DBE036BB1B9A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2628900" cy="2647950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flow-title">
            <a:extLst>
              <a:ext uri="{FF2B5EF4-FFF2-40B4-BE49-F238E27FC236}">
                <a16:creationId xmlns:a16="http://schemas.microsoft.com/office/drawing/2014/main" id="{83AF024E-CDB9-4C4E-90CB-C029106BF527}"/>
              </a:ext>
            </a:extLst>
          </p:cNvPr>
          <p:cNvSpPr>
            <a:spLocks noGrp="1"/>
          </p:cNvSpPr>
          <p:nvPr/>
        </p:nvSpPr>
        <p:spPr>
          <a:xfrm>
            <a:off x="9163050" y="26860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6667"/>
          </a:bodyPr>
          <a:lstStyle/>
          <a:p>
            <a:pPr algn="ctr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Worker flow</a:t>
            </a:r>
          </a:p>
        </p:txBody>
      </p:sp>
      <p:sp>
        <p:nvSpPr>
          <p:cNvPr id="24" name="flow-dot-0">
            <a:extLst>
              <a:ext uri="{FF2B5EF4-FFF2-40B4-BE49-F238E27FC236}">
                <a16:creationId xmlns:a16="http://schemas.microsoft.com/office/drawing/2014/main" id="{6A43375A-378B-4F40-BAE0-55405FFE05B6}"/>
              </a:ext>
            </a:extLst>
          </p:cNvPr>
          <p:cNvSpPr>
            <a:spLocks noGrp="1"/>
          </p:cNvSpPr>
          <p:nvPr/>
        </p:nvSpPr>
        <p:spPr>
          <a:xfrm>
            <a:off x="9201150" y="3276600"/>
            <a:ext cx="133350" cy="133350"/>
          </a:xfrm>
          <a:prstGeom prst="ellipse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25" name="flow-text-0">
            <a:extLst>
              <a:ext uri="{FF2B5EF4-FFF2-40B4-BE49-F238E27FC236}">
                <a16:creationId xmlns:a16="http://schemas.microsoft.com/office/drawing/2014/main" id="{6D8F2A33-8F0E-4130-A8F7-D8290AD8729C}"/>
              </a:ext>
            </a:extLst>
          </p:cNvPr>
          <p:cNvSpPr>
            <a:spLocks noGrp="1"/>
          </p:cNvSpPr>
          <p:nvPr/>
        </p:nvSpPr>
        <p:spPr>
          <a:xfrm>
            <a:off x="9467850" y="3238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Browse matched jobs</a:t>
            </a:r>
          </a:p>
        </p:txBody>
      </p:sp>
      <p:sp>
        <p:nvSpPr>
          <p:cNvPr id="26" name="flow-dot-1">
            <a:extLst>
              <a:ext uri="{FF2B5EF4-FFF2-40B4-BE49-F238E27FC236}">
                <a16:creationId xmlns:a16="http://schemas.microsoft.com/office/drawing/2014/main" id="{CB29726B-7BC2-4332-8060-ACB9C21CEA44}"/>
              </a:ext>
            </a:extLst>
          </p:cNvPr>
          <p:cNvSpPr>
            <a:spLocks noGrp="1"/>
          </p:cNvSpPr>
          <p:nvPr/>
        </p:nvSpPr>
        <p:spPr>
          <a:xfrm>
            <a:off x="9201150" y="3676650"/>
            <a:ext cx="133350" cy="133350"/>
          </a:xfrm>
          <a:prstGeom prst="ellipse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27" name="flow-text-1">
            <a:extLst>
              <a:ext uri="{FF2B5EF4-FFF2-40B4-BE49-F238E27FC236}">
                <a16:creationId xmlns:a16="http://schemas.microsoft.com/office/drawing/2014/main" id="{267F4B1A-EED3-4A04-9162-1085F176D7FF}"/>
              </a:ext>
            </a:extLst>
          </p:cNvPr>
          <p:cNvSpPr>
            <a:spLocks noGrp="1"/>
          </p:cNvSpPr>
          <p:nvPr/>
        </p:nvSpPr>
        <p:spPr>
          <a:xfrm>
            <a:off x="9467850" y="36385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Apply with one click</a:t>
            </a:r>
          </a:p>
        </p:txBody>
      </p:sp>
      <p:sp>
        <p:nvSpPr>
          <p:cNvPr id="28" name="flow-dot-2">
            <a:extLst>
              <a:ext uri="{FF2B5EF4-FFF2-40B4-BE49-F238E27FC236}">
                <a16:creationId xmlns:a16="http://schemas.microsoft.com/office/drawing/2014/main" id="{535DFFB1-6EFA-44C2-8B1E-76064F2C5802}"/>
              </a:ext>
            </a:extLst>
          </p:cNvPr>
          <p:cNvSpPr>
            <a:spLocks noGrp="1"/>
          </p:cNvSpPr>
          <p:nvPr/>
        </p:nvSpPr>
        <p:spPr>
          <a:xfrm>
            <a:off x="9201150" y="4076700"/>
            <a:ext cx="133350" cy="133350"/>
          </a:xfrm>
          <a:prstGeom prst="ellipse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29" name="flow-text-2">
            <a:extLst>
              <a:ext uri="{FF2B5EF4-FFF2-40B4-BE49-F238E27FC236}">
                <a16:creationId xmlns:a16="http://schemas.microsoft.com/office/drawing/2014/main" id="{D6770584-3025-4BD7-BCA3-F2A933718799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 every application</a:t>
            </a:r>
          </a:p>
        </p:txBody>
      </p:sp>
      <p:sp>
        <p:nvSpPr>
          <p:cNvPr id="30" name="flow-dot-3">
            <a:extLst>
              <a:ext uri="{FF2B5EF4-FFF2-40B4-BE49-F238E27FC236}">
                <a16:creationId xmlns:a16="http://schemas.microsoft.com/office/drawing/2014/main" id="{8DF45858-5C0E-44BE-A828-CBB79B708A46}"/>
              </a:ext>
            </a:extLst>
          </p:cNvPr>
          <p:cNvSpPr>
            <a:spLocks noGrp="1"/>
          </p:cNvSpPr>
          <p:nvPr/>
        </p:nvSpPr>
        <p:spPr>
          <a:xfrm>
            <a:off x="9201150" y="4476750"/>
            <a:ext cx="133350" cy="133350"/>
          </a:xfrm>
          <a:prstGeom prst="ellipse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31" name="flow-text-3">
            <a:extLst>
              <a:ext uri="{FF2B5EF4-FFF2-40B4-BE49-F238E27FC236}">
                <a16:creationId xmlns:a16="http://schemas.microsoft.com/office/drawing/2014/main" id="{CE79B3C0-886B-428E-935D-6B1818CDC895}"/>
              </a:ext>
            </a:extLst>
          </p:cNvPr>
          <p:cNvSpPr>
            <a:spLocks noGrp="1"/>
          </p:cNvSpPr>
          <p:nvPr/>
        </p:nvSpPr>
        <p:spPr>
          <a:xfrm>
            <a:off x="9467850" y="44386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Message employers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C1A2505-035C-DFEF-23BE-4B9D383D3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9851"/>
            <a:ext cx="4532673" cy="236580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183DF6B-E5B2-68FE-813B-1C8FD198B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819" y="2579209"/>
            <a:ext cx="2362201" cy="274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3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rand-dot">
            <a:extLst>
              <a:ext uri="{FF2B5EF4-FFF2-40B4-BE49-F238E27FC236}">
                <a16:creationId xmlns:a16="http://schemas.microsoft.com/office/drawing/2014/main" id="{C707DA34-0C1D-4E21-8602-53D90599847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99139F27-ABF8-4A21-9DA9-1EC1C88B89F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2311555-0BC8-4D0D-8AD9-9C85C9E56002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Employers manage the hiring workflow end to end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8D2DBD53-DEC3-4B03-BD82-990D91CB8CCE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Companies can publish openings, search workers, shortlist candidates, and move applicants through a pipeline.</a:t>
            </a:r>
          </a:p>
        </p:txBody>
      </p:sp>
      <p:sp>
        <p:nvSpPr>
          <p:cNvPr id="5" name="footer-7">
            <a:extLst>
              <a:ext uri="{FF2B5EF4-FFF2-40B4-BE49-F238E27FC236}">
                <a16:creationId xmlns:a16="http://schemas.microsoft.com/office/drawing/2014/main" id="{52293800-A64F-4E0F-8590-28602FD75186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slot-Employer pipeline screenshot">
            <a:extLst>
              <a:ext uri="{FF2B5EF4-FFF2-40B4-BE49-F238E27FC236}">
                <a16:creationId xmlns:a16="http://schemas.microsoft.com/office/drawing/2014/main" id="{4D0E5B35-8FBC-4215-AEA0-3F5887B06783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6572250" cy="3943350"/>
          </a:xfrm>
          <a:prstGeom prst="roundRect">
            <a:avLst>
              <a:gd name="adj" fmla="val 193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ot-border-Employer pipeline screenshot">
            <a:extLst>
              <a:ext uri="{FF2B5EF4-FFF2-40B4-BE49-F238E27FC236}">
                <a16:creationId xmlns:a16="http://schemas.microsoft.com/office/drawing/2014/main" id="{362D60A5-52D8-4D4C-88F3-F0756F450B88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6229350" cy="360045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8" name="slot-topbar-Employer pipeline screenshot">
            <a:extLst>
              <a:ext uri="{FF2B5EF4-FFF2-40B4-BE49-F238E27FC236}">
                <a16:creationId xmlns:a16="http://schemas.microsoft.com/office/drawing/2014/main" id="{83CED91E-D4FB-4841-AB2E-D8F5DC49B58D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6229350" cy="3238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9" name="slot-dot-1-Employer pipeline screenshot">
            <a:extLst>
              <a:ext uri="{FF2B5EF4-FFF2-40B4-BE49-F238E27FC236}">
                <a16:creationId xmlns:a16="http://schemas.microsoft.com/office/drawing/2014/main" id="{7FF95082-0822-4246-AD3F-09952EC92751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95250" cy="952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</p:sp>
      <p:sp>
        <p:nvSpPr>
          <p:cNvPr id="10" name="slot-dot-2-Employer pipeline screenshot">
            <a:extLst>
              <a:ext uri="{FF2B5EF4-FFF2-40B4-BE49-F238E27FC236}">
                <a16:creationId xmlns:a16="http://schemas.microsoft.com/office/drawing/2014/main" id="{0C6D2676-18BE-412A-AEE9-04BC7526B201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95250" cy="95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1" name="slot-dot-3-Employer pipeline screenshot">
            <a:extLst>
              <a:ext uri="{FF2B5EF4-FFF2-40B4-BE49-F238E27FC236}">
                <a16:creationId xmlns:a16="http://schemas.microsoft.com/office/drawing/2014/main" id="{F66E5CB9-7356-4CF5-81A0-4AE72BBC87B2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95250" cy="95250"/>
          </a:xfrm>
          <a:prstGeom prst="ellipse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12" name="slot-title-Employer pipeline screenshot">
            <a:extLst>
              <a:ext uri="{FF2B5EF4-FFF2-40B4-BE49-F238E27FC236}">
                <a16:creationId xmlns:a16="http://schemas.microsoft.com/office/drawing/2014/main" id="{E529F30D-F6F6-44E4-948B-8774F6BAC8F4}"/>
              </a:ext>
            </a:extLst>
          </p:cNvPr>
          <p:cNvSpPr>
            <a:spLocks noGrp="1"/>
          </p:cNvSpPr>
          <p:nvPr/>
        </p:nvSpPr>
        <p:spPr>
          <a:xfrm>
            <a:off x="838200" y="3629025"/>
            <a:ext cx="5695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Employer pipeline screenshot</a:t>
            </a:r>
          </a:p>
        </p:txBody>
      </p:sp>
      <p:sp>
        <p:nvSpPr>
          <p:cNvPr id="13" name="slot-caption-Employer pipeline screenshot">
            <a:extLst>
              <a:ext uri="{FF2B5EF4-FFF2-40B4-BE49-F238E27FC236}">
                <a16:creationId xmlns:a16="http://schemas.microsoft.com/office/drawing/2014/main" id="{B81D16BD-154C-4D17-891F-A910D5C0E912}"/>
              </a:ext>
            </a:extLst>
          </p:cNvPr>
          <p:cNvSpPr>
            <a:spLocks noGrp="1"/>
          </p:cNvSpPr>
          <p:nvPr/>
        </p:nvSpPr>
        <p:spPr>
          <a:xfrm>
            <a:off x="1123950" y="4048125"/>
            <a:ext cx="512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pipeline with New, Shortlisted, Interview, Hired, and Rejected stages.</a:t>
            </a:r>
          </a:p>
        </p:txBody>
      </p:sp>
      <p:sp>
        <p:nvSpPr>
          <p:cNvPr id="14" name="employer-step-num-0">
            <a:extLst>
              <a:ext uri="{FF2B5EF4-FFF2-40B4-BE49-F238E27FC236}">
                <a16:creationId xmlns:a16="http://schemas.microsoft.com/office/drawing/2014/main" id="{B5989C58-C2D2-49F9-AE5F-C28778B0CFE8}"/>
              </a:ext>
            </a:extLst>
          </p:cNvPr>
          <p:cNvSpPr>
            <a:spLocks noGrp="1"/>
          </p:cNvSpPr>
          <p:nvPr/>
        </p:nvSpPr>
        <p:spPr>
          <a:xfrm>
            <a:off x="7524750" y="2152650"/>
            <a:ext cx="400050" cy="400050"/>
          </a:xfrm>
          <a:prstGeom prst="ellipse">
            <a:avLst/>
          </a:prstGeom>
          <a:solidFill>
            <a:srgbClr val="071B36"/>
          </a:solidFill>
          <a:ln w="0">
            <a:noFill/>
            <a:prstDash val="solid"/>
          </a:ln>
        </p:spPr>
      </p:sp>
      <p:sp>
        <p:nvSpPr>
          <p:cNvPr id="15" name="employer-num-text-0">
            <a:extLst>
              <a:ext uri="{FF2B5EF4-FFF2-40B4-BE49-F238E27FC236}">
                <a16:creationId xmlns:a16="http://schemas.microsoft.com/office/drawing/2014/main" id="{D3C401D3-3BC9-4553-8BA8-B528FA691776}"/>
              </a:ext>
            </a:extLst>
          </p:cNvPr>
          <p:cNvSpPr>
            <a:spLocks noGrp="1"/>
          </p:cNvSpPr>
          <p:nvPr/>
        </p:nvSpPr>
        <p:spPr>
          <a:xfrm>
            <a:off x="7591425" y="22098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6" name="employer-step-label-0">
            <a:extLst>
              <a:ext uri="{FF2B5EF4-FFF2-40B4-BE49-F238E27FC236}">
                <a16:creationId xmlns:a16="http://schemas.microsoft.com/office/drawing/2014/main" id="{19EC58DE-2648-4646-B929-ED0C5C533555}"/>
              </a:ext>
            </a:extLst>
          </p:cNvPr>
          <p:cNvSpPr>
            <a:spLocks noGrp="1"/>
          </p:cNvSpPr>
          <p:nvPr/>
        </p:nvSpPr>
        <p:spPr>
          <a:xfrm>
            <a:off x="8134350" y="21907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Create job openings</a:t>
            </a:r>
          </a:p>
        </p:txBody>
      </p:sp>
      <p:sp>
        <p:nvSpPr>
          <p:cNvPr id="17" name="employer-step-num-1">
            <a:extLst>
              <a:ext uri="{FF2B5EF4-FFF2-40B4-BE49-F238E27FC236}">
                <a16:creationId xmlns:a16="http://schemas.microsoft.com/office/drawing/2014/main" id="{B9862EDE-F6E5-4C7B-8807-A0544E91C747}"/>
              </a:ext>
            </a:extLst>
          </p:cNvPr>
          <p:cNvSpPr>
            <a:spLocks noGrp="1"/>
          </p:cNvSpPr>
          <p:nvPr/>
        </p:nvSpPr>
        <p:spPr>
          <a:xfrm>
            <a:off x="7524750" y="2838450"/>
            <a:ext cx="400050" cy="400050"/>
          </a:xfrm>
          <a:prstGeom prst="ellipse">
            <a:avLst/>
          </a:prstGeom>
          <a:solidFill>
            <a:srgbClr val="071B36"/>
          </a:solidFill>
          <a:ln w="0">
            <a:noFill/>
            <a:prstDash val="solid"/>
          </a:ln>
        </p:spPr>
      </p:sp>
      <p:sp>
        <p:nvSpPr>
          <p:cNvPr id="18" name="employer-num-text-1">
            <a:extLst>
              <a:ext uri="{FF2B5EF4-FFF2-40B4-BE49-F238E27FC236}">
                <a16:creationId xmlns:a16="http://schemas.microsoft.com/office/drawing/2014/main" id="{E3C25967-E2E7-48A0-878E-C8C71C222C87}"/>
              </a:ext>
            </a:extLst>
          </p:cNvPr>
          <p:cNvSpPr>
            <a:spLocks noGrp="1"/>
          </p:cNvSpPr>
          <p:nvPr/>
        </p:nvSpPr>
        <p:spPr>
          <a:xfrm>
            <a:off x="7591425" y="28956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9" name="employer-step-label-1">
            <a:extLst>
              <a:ext uri="{FF2B5EF4-FFF2-40B4-BE49-F238E27FC236}">
                <a16:creationId xmlns:a16="http://schemas.microsoft.com/office/drawing/2014/main" id="{B829AD1B-708C-421B-B524-7B7F526EEDEE}"/>
              </a:ext>
            </a:extLst>
          </p:cNvPr>
          <p:cNvSpPr>
            <a:spLocks noGrp="1"/>
          </p:cNvSpPr>
          <p:nvPr/>
        </p:nvSpPr>
        <p:spPr>
          <a:xfrm>
            <a:off x="8134350" y="28765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Browse available workers</a:t>
            </a:r>
          </a:p>
        </p:txBody>
      </p:sp>
      <p:sp>
        <p:nvSpPr>
          <p:cNvPr id="20" name="employer-step-num-2">
            <a:extLst>
              <a:ext uri="{FF2B5EF4-FFF2-40B4-BE49-F238E27FC236}">
                <a16:creationId xmlns:a16="http://schemas.microsoft.com/office/drawing/2014/main" id="{6E9E6178-A190-447A-A356-665D82C99D9D}"/>
              </a:ext>
            </a:extLst>
          </p:cNvPr>
          <p:cNvSpPr>
            <a:spLocks noGrp="1"/>
          </p:cNvSpPr>
          <p:nvPr/>
        </p:nvSpPr>
        <p:spPr>
          <a:xfrm>
            <a:off x="7524750" y="3524250"/>
            <a:ext cx="400050" cy="400050"/>
          </a:xfrm>
          <a:prstGeom prst="ellipse">
            <a:avLst/>
          </a:prstGeom>
          <a:solidFill>
            <a:srgbClr val="071B36"/>
          </a:solidFill>
          <a:ln w="0">
            <a:noFill/>
            <a:prstDash val="solid"/>
          </a:ln>
        </p:spPr>
      </p:sp>
      <p:sp>
        <p:nvSpPr>
          <p:cNvPr id="21" name="employer-num-text-2">
            <a:extLst>
              <a:ext uri="{FF2B5EF4-FFF2-40B4-BE49-F238E27FC236}">
                <a16:creationId xmlns:a16="http://schemas.microsoft.com/office/drawing/2014/main" id="{5CB61E0B-5B3A-4593-811F-D5689A0E513D}"/>
              </a:ext>
            </a:extLst>
          </p:cNvPr>
          <p:cNvSpPr>
            <a:spLocks noGrp="1"/>
          </p:cNvSpPr>
          <p:nvPr/>
        </p:nvSpPr>
        <p:spPr>
          <a:xfrm>
            <a:off x="7591425" y="35814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employer-step-label-2">
            <a:extLst>
              <a:ext uri="{FF2B5EF4-FFF2-40B4-BE49-F238E27FC236}">
                <a16:creationId xmlns:a16="http://schemas.microsoft.com/office/drawing/2014/main" id="{A6336873-4091-4FFD-99F6-909C604047A0}"/>
              </a:ext>
            </a:extLst>
          </p:cNvPr>
          <p:cNvSpPr>
            <a:spLocks noGrp="1"/>
          </p:cNvSpPr>
          <p:nvPr/>
        </p:nvSpPr>
        <p:spPr>
          <a:xfrm>
            <a:off x="8134350" y="35623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Shortlist by skills and experience</a:t>
            </a:r>
          </a:p>
        </p:txBody>
      </p:sp>
      <p:sp>
        <p:nvSpPr>
          <p:cNvPr id="23" name="employer-step-num-3">
            <a:extLst>
              <a:ext uri="{FF2B5EF4-FFF2-40B4-BE49-F238E27FC236}">
                <a16:creationId xmlns:a16="http://schemas.microsoft.com/office/drawing/2014/main" id="{61C45659-26C6-4A86-B811-BF9120B6B658}"/>
              </a:ext>
            </a:extLst>
          </p:cNvPr>
          <p:cNvSpPr>
            <a:spLocks noGrp="1"/>
          </p:cNvSpPr>
          <p:nvPr/>
        </p:nvSpPr>
        <p:spPr>
          <a:xfrm>
            <a:off x="7524750" y="4210050"/>
            <a:ext cx="400050" cy="400050"/>
          </a:xfrm>
          <a:prstGeom prst="ellipse">
            <a:avLst/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24" name="employer-num-text-3">
            <a:extLst>
              <a:ext uri="{FF2B5EF4-FFF2-40B4-BE49-F238E27FC236}">
                <a16:creationId xmlns:a16="http://schemas.microsoft.com/office/drawing/2014/main" id="{D8FDE6E1-5322-4096-A4FA-9CFA296BCBD6}"/>
              </a:ext>
            </a:extLst>
          </p:cNvPr>
          <p:cNvSpPr>
            <a:spLocks noGrp="1"/>
          </p:cNvSpPr>
          <p:nvPr/>
        </p:nvSpPr>
        <p:spPr>
          <a:xfrm>
            <a:off x="7591425" y="42672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employer-step-label-3">
            <a:extLst>
              <a:ext uri="{FF2B5EF4-FFF2-40B4-BE49-F238E27FC236}">
                <a16:creationId xmlns:a16="http://schemas.microsoft.com/office/drawing/2014/main" id="{FCCCBC58-64CC-4F18-A0A4-E7D9392F8E80}"/>
              </a:ext>
            </a:extLst>
          </p:cNvPr>
          <p:cNvSpPr>
            <a:spLocks noGrp="1"/>
          </p:cNvSpPr>
          <p:nvPr/>
        </p:nvSpPr>
        <p:spPr>
          <a:xfrm>
            <a:off x="8134350" y="42481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Move candidates across stages</a:t>
            </a:r>
          </a:p>
        </p:txBody>
      </p:sp>
      <p:sp>
        <p:nvSpPr>
          <p:cNvPr id="26" name="employer-step-num-4">
            <a:extLst>
              <a:ext uri="{FF2B5EF4-FFF2-40B4-BE49-F238E27FC236}">
                <a16:creationId xmlns:a16="http://schemas.microsoft.com/office/drawing/2014/main" id="{0A4FEBD1-D353-4D91-B03F-4BA3F0FCED9D}"/>
              </a:ext>
            </a:extLst>
          </p:cNvPr>
          <p:cNvSpPr>
            <a:spLocks noGrp="1"/>
          </p:cNvSpPr>
          <p:nvPr/>
        </p:nvSpPr>
        <p:spPr>
          <a:xfrm>
            <a:off x="7524750" y="4895850"/>
            <a:ext cx="400050" cy="400050"/>
          </a:xfrm>
          <a:prstGeom prst="ellipse">
            <a:avLst/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27" name="employer-num-text-4">
            <a:extLst>
              <a:ext uri="{FF2B5EF4-FFF2-40B4-BE49-F238E27FC236}">
                <a16:creationId xmlns:a16="http://schemas.microsoft.com/office/drawing/2014/main" id="{7D1C2DB8-6228-48B9-832B-4790D86BF5AF}"/>
              </a:ext>
            </a:extLst>
          </p:cNvPr>
          <p:cNvSpPr>
            <a:spLocks noGrp="1"/>
          </p:cNvSpPr>
          <p:nvPr/>
        </p:nvSpPr>
        <p:spPr>
          <a:xfrm>
            <a:off x="7591425" y="49530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8" name="employer-step-label-4">
            <a:extLst>
              <a:ext uri="{FF2B5EF4-FFF2-40B4-BE49-F238E27FC236}">
                <a16:creationId xmlns:a16="http://schemas.microsoft.com/office/drawing/2014/main" id="{BEA68D55-1187-4DB9-89D3-8BCE0A396C1C}"/>
              </a:ext>
            </a:extLst>
          </p:cNvPr>
          <p:cNvSpPr>
            <a:spLocks noGrp="1"/>
          </p:cNvSpPr>
          <p:nvPr/>
        </p:nvSpPr>
        <p:spPr>
          <a:xfrm>
            <a:off x="8134350" y="49339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 analytics centrally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1432CB2-438C-A6A9-3E55-E468D3284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56" y="2468703"/>
            <a:ext cx="6243222" cy="328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6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rand-dot">
            <a:extLst>
              <a:ext uri="{FF2B5EF4-FFF2-40B4-BE49-F238E27FC236}">
                <a16:creationId xmlns:a16="http://schemas.microsoft.com/office/drawing/2014/main" id="{460BE17B-B070-4A0A-92E7-126F4AEE1366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93FD59EA-D450-494F-A221-84A9CFD48F5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8D8206E-52BC-4F46-9064-1E4185BEE70B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Admins keep verified trust visible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B8E9C236-8DB9-44F0-8B5B-EFA8EE47CB5F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admin role turns submitted claims into reviewed credentials that workers and employers can rely on.</a:t>
            </a:r>
          </a:p>
        </p:txBody>
      </p:sp>
      <p:sp>
        <p:nvSpPr>
          <p:cNvPr id="5" name="footer-8">
            <a:extLst>
              <a:ext uri="{FF2B5EF4-FFF2-40B4-BE49-F238E27FC236}">
                <a16:creationId xmlns:a16="http://schemas.microsoft.com/office/drawing/2014/main" id="{8A1DA7EF-7A46-4518-8DD5-8B46A71AED7A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slot-Admin verification queue">
            <a:extLst>
              <a:ext uri="{FF2B5EF4-FFF2-40B4-BE49-F238E27FC236}">
                <a16:creationId xmlns:a16="http://schemas.microsoft.com/office/drawing/2014/main" id="{D7056203-9A8E-438F-A55E-2430345EF316}"/>
              </a:ext>
            </a:extLst>
          </p:cNvPr>
          <p:cNvSpPr>
            <a:spLocks noGrp="1"/>
          </p:cNvSpPr>
          <p:nvPr/>
        </p:nvSpPr>
        <p:spPr>
          <a:xfrm>
            <a:off x="5905500" y="2000250"/>
            <a:ext cx="5867400" cy="3593242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ot-border-Admin verification queue">
            <a:extLst>
              <a:ext uri="{FF2B5EF4-FFF2-40B4-BE49-F238E27FC236}">
                <a16:creationId xmlns:a16="http://schemas.microsoft.com/office/drawing/2014/main" id="{8BD10261-8415-4B3A-801C-8CBA2D9B3BA6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5524500" cy="328998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8" name="slot-topbar-Admin verification queue">
            <a:extLst>
              <a:ext uri="{FF2B5EF4-FFF2-40B4-BE49-F238E27FC236}">
                <a16:creationId xmlns:a16="http://schemas.microsoft.com/office/drawing/2014/main" id="{DFD94709-C5B4-4E00-A9A3-C280FC390133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5524500" cy="3238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9" name="slot-dot-1-Admin verification queue">
            <a:extLst>
              <a:ext uri="{FF2B5EF4-FFF2-40B4-BE49-F238E27FC236}">
                <a16:creationId xmlns:a16="http://schemas.microsoft.com/office/drawing/2014/main" id="{C5F105DC-8F61-4C01-A9A6-2EF4E6C58BFD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95250" cy="952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</p:sp>
      <p:sp>
        <p:nvSpPr>
          <p:cNvPr id="10" name="slot-dot-2-Admin verification queue">
            <a:extLst>
              <a:ext uri="{FF2B5EF4-FFF2-40B4-BE49-F238E27FC236}">
                <a16:creationId xmlns:a16="http://schemas.microsoft.com/office/drawing/2014/main" id="{56F42AAE-7E4F-4E44-8F77-3D96419D5FCE}"/>
              </a:ext>
            </a:extLst>
          </p:cNvPr>
          <p:cNvSpPr>
            <a:spLocks noGrp="1"/>
          </p:cNvSpPr>
          <p:nvPr/>
        </p:nvSpPr>
        <p:spPr>
          <a:xfrm>
            <a:off x="6381750" y="2286000"/>
            <a:ext cx="95250" cy="95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1" name="slot-dot-3-Admin verification queue">
            <a:extLst>
              <a:ext uri="{FF2B5EF4-FFF2-40B4-BE49-F238E27FC236}">
                <a16:creationId xmlns:a16="http://schemas.microsoft.com/office/drawing/2014/main" id="{EBF7268B-F4A4-4D88-8F5C-708E241E5A75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95250" cy="95250"/>
          </a:xfrm>
          <a:prstGeom prst="ellipse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12" name="slot-title-Admin verification queue">
            <a:extLst>
              <a:ext uri="{FF2B5EF4-FFF2-40B4-BE49-F238E27FC236}">
                <a16:creationId xmlns:a16="http://schemas.microsoft.com/office/drawing/2014/main" id="{245E9758-C249-4ABB-8904-C108E0187844}"/>
              </a:ext>
            </a:extLst>
          </p:cNvPr>
          <p:cNvSpPr>
            <a:spLocks noGrp="1"/>
          </p:cNvSpPr>
          <p:nvPr/>
        </p:nvSpPr>
        <p:spPr>
          <a:xfrm>
            <a:off x="6343650" y="3629025"/>
            <a:ext cx="4991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Admin verification queue</a:t>
            </a:r>
          </a:p>
        </p:txBody>
      </p:sp>
      <p:sp>
        <p:nvSpPr>
          <p:cNvPr id="13" name="slot-caption-Admin verification queue">
            <a:extLst>
              <a:ext uri="{FF2B5EF4-FFF2-40B4-BE49-F238E27FC236}">
                <a16:creationId xmlns:a16="http://schemas.microsoft.com/office/drawing/2014/main" id="{6F47B5D8-866D-4279-BA6E-27081F8DCB24}"/>
              </a:ext>
            </a:extLst>
          </p:cNvPr>
          <p:cNvSpPr>
            <a:spLocks noGrp="1"/>
          </p:cNvSpPr>
          <p:nvPr/>
        </p:nvSpPr>
        <p:spPr>
          <a:xfrm>
            <a:off x="6629400" y="4048125"/>
            <a:ext cx="4419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certificate approval, rejection, and platform statistics.</a:t>
            </a:r>
          </a:p>
        </p:txBody>
      </p:sp>
      <p:sp>
        <p:nvSpPr>
          <p:cNvPr id="14" name="admin-square-0">
            <a:extLst>
              <a:ext uri="{FF2B5EF4-FFF2-40B4-BE49-F238E27FC236}">
                <a16:creationId xmlns:a16="http://schemas.microsoft.com/office/drawing/2014/main" id="{184596A0-E10A-477B-A372-7FF2FEE20D58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266700" cy="266700"/>
          </a:xfrm>
          <a:prstGeom prst="rect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15" name="admin-heading-0">
            <a:extLst>
              <a:ext uri="{FF2B5EF4-FFF2-40B4-BE49-F238E27FC236}">
                <a16:creationId xmlns:a16="http://schemas.microsoft.com/office/drawing/2014/main" id="{EF9F0090-F0B1-4A11-A5AF-D7F6A6880C97}"/>
              </a:ext>
            </a:extLst>
          </p:cNvPr>
          <p:cNvSpPr>
            <a:spLocks noGrp="1"/>
          </p:cNvSpPr>
          <p:nvPr/>
        </p:nvSpPr>
        <p:spPr>
          <a:xfrm>
            <a:off x="1066800" y="22860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3333"/>
          </a:bodyPr>
          <a:lstStyle/>
          <a:p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Review profiles</a:t>
            </a:r>
          </a:p>
        </p:txBody>
      </p:sp>
      <p:sp>
        <p:nvSpPr>
          <p:cNvPr id="16" name="admin-body-0">
            <a:extLst>
              <a:ext uri="{FF2B5EF4-FFF2-40B4-BE49-F238E27FC236}">
                <a16:creationId xmlns:a16="http://schemas.microsoft.com/office/drawing/2014/main" id="{3D31872F-1950-4FF8-A1CF-0105D84FD117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Verify or unverify worker profiles.</a:t>
            </a:r>
          </a:p>
        </p:txBody>
      </p:sp>
      <p:sp>
        <p:nvSpPr>
          <p:cNvPr id="17" name="admin-square-1">
            <a:extLst>
              <a:ext uri="{FF2B5EF4-FFF2-40B4-BE49-F238E27FC236}">
                <a16:creationId xmlns:a16="http://schemas.microsoft.com/office/drawing/2014/main" id="{FC290CA8-9460-4CE4-9B59-DBB030145AEA}"/>
              </a:ext>
            </a:extLst>
          </p:cNvPr>
          <p:cNvSpPr>
            <a:spLocks noGrp="1"/>
          </p:cNvSpPr>
          <p:nvPr/>
        </p:nvSpPr>
        <p:spPr>
          <a:xfrm>
            <a:off x="571500" y="3409950"/>
            <a:ext cx="266700" cy="266700"/>
          </a:xfrm>
          <a:prstGeom prst="rect">
            <a:avLst/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18" name="admin-heading-1">
            <a:extLst>
              <a:ext uri="{FF2B5EF4-FFF2-40B4-BE49-F238E27FC236}">
                <a16:creationId xmlns:a16="http://schemas.microsoft.com/office/drawing/2014/main" id="{DD45CBBF-4C7A-4E67-BBA3-B4D612DE407B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3333"/>
          </a:bodyPr>
          <a:lstStyle/>
          <a:p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Approve certificates</a:t>
            </a:r>
          </a:p>
        </p:txBody>
      </p:sp>
      <p:sp>
        <p:nvSpPr>
          <p:cNvPr id="19" name="admin-body-1">
            <a:extLst>
              <a:ext uri="{FF2B5EF4-FFF2-40B4-BE49-F238E27FC236}">
                <a16:creationId xmlns:a16="http://schemas.microsoft.com/office/drawing/2014/main" id="{BA14AF35-8103-4884-B83D-AFD59650149D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2593"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Submitted credentials enter a queue before affecting profiles.</a:t>
            </a:r>
          </a:p>
        </p:txBody>
      </p:sp>
      <p:sp>
        <p:nvSpPr>
          <p:cNvPr id="20" name="admin-square-2">
            <a:extLst>
              <a:ext uri="{FF2B5EF4-FFF2-40B4-BE49-F238E27FC236}">
                <a16:creationId xmlns:a16="http://schemas.microsoft.com/office/drawing/2014/main" id="{54542E9C-3679-4330-AA20-7C0FF3EB5592}"/>
              </a:ext>
            </a:extLst>
          </p:cNvPr>
          <p:cNvSpPr>
            <a:spLocks noGrp="1"/>
          </p:cNvSpPr>
          <p:nvPr/>
        </p:nvSpPr>
        <p:spPr>
          <a:xfrm>
            <a:off x="571500" y="4457700"/>
            <a:ext cx="266700" cy="2667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1" name="admin-heading-2">
            <a:extLst>
              <a:ext uri="{FF2B5EF4-FFF2-40B4-BE49-F238E27FC236}">
                <a16:creationId xmlns:a16="http://schemas.microsoft.com/office/drawing/2014/main" id="{8F916BB6-3E1E-40B6-B64F-7BC463677A28}"/>
              </a:ext>
            </a:extLst>
          </p:cNvPr>
          <p:cNvSpPr>
            <a:spLocks noGrp="1"/>
          </p:cNvSpPr>
          <p:nvPr/>
        </p:nvSpPr>
        <p:spPr>
          <a:xfrm>
            <a:off x="1066800" y="43815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3333"/>
          </a:bodyPr>
          <a:lstStyle/>
          <a:p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Monitor statistics</a:t>
            </a:r>
          </a:p>
        </p:txBody>
      </p:sp>
      <p:sp>
        <p:nvSpPr>
          <p:cNvPr id="22" name="admin-body-2">
            <a:extLst>
              <a:ext uri="{FF2B5EF4-FFF2-40B4-BE49-F238E27FC236}">
                <a16:creationId xmlns:a16="http://schemas.microsoft.com/office/drawing/2014/main" id="{83FB78D9-F491-4EC3-8F98-BB12B5A7754E}"/>
              </a:ext>
            </a:extLst>
          </p:cNvPr>
          <p:cNvSpPr>
            <a:spLocks noGrp="1"/>
          </p:cNvSpPr>
          <p:nvPr/>
        </p:nvSpPr>
        <p:spPr>
          <a:xfrm>
            <a:off x="1066800" y="474345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Worker, job, and platform activity stay centralized.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6C09792-5936-6968-8602-DFAE54256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592" y="2516145"/>
            <a:ext cx="5526907" cy="294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5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rand-dot">
            <a:extLst>
              <a:ext uri="{FF2B5EF4-FFF2-40B4-BE49-F238E27FC236}">
                <a16:creationId xmlns:a16="http://schemas.microsoft.com/office/drawing/2014/main" id="{0E5061B6-2025-4361-BFE1-426EFFEF429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B6C2FA16-9CDE-450F-89A7-C9FD4B140EB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E11E73BA-8F46-4B9C-B386-644601D91F97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innovation is transparent trust, not another black box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1030EFC6-951A-46AA-B5BB-1665CFD91A8E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KaushalSetu makes the reason behind hiring recommendations visible to workers, employers, and admins.</a:t>
            </a:r>
          </a:p>
        </p:txBody>
      </p:sp>
      <p:sp>
        <p:nvSpPr>
          <p:cNvPr id="5" name="footer-9">
            <a:extLst>
              <a:ext uri="{FF2B5EF4-FFF2-40B4-BE49-F238E27FC236}">
                <a16:creationId xmlns:a16="http://schemas.microsoft.com/office/drawing/2014/main" id="{6A248C5A-2E15-4752-BBB9-379FED4BE347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innovation-Trust Score">
            <a:extLst>
              <a:ext uri="{FF2B5EF4-FFF2-40B4-BE49-F238E27FC236}">
                <a16:creationId xmlns:a16="http://schemas.microsoft.com/office/drawing/2014/main" id="{FBF5B6D5-7902-4917-B8E7-39380CE54D76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571750" cy="295275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innovation-stat-0">
            <a:extLst>
              <a:ext uri="{FF2B5EF4-FFF2-40B4-BE49-F238E27FC236}">
                <a16:creationId xmlns:a16="http://schemas.microsoft.com/office/drawing/2014/main" id="{689ED4B5-5431-4C75-92DC-C44B8CD9F506}"/>
              </a:ext>
            </a:extLst>
          </p:cNvPr>
          <p:cNvSpPr>
            <a:spLocks noGrp="1"/>
          </p:cNvSpPr>
          <p:nvPr/>
        </p:nvSpPr>
        <p:spPr>
          <a:xfrm>
            <a:off x="628650" y="24384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2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0-100</a:t>
            </a:r>
          </a:p>
        </p:txBody>
      </p:sp>
      <p:sp>
        <p:nvSpPr>
          <p:cNvPr id="8" name="innovation-label-0">
            <a:extLst>
              <a:ext uri="{FF2B5EF4-FFF2-40B4-BE49-F238E27FC236}">
                <a16:creationId xmlns:a16="http://schemas.microsoft.com/office/drawing/2014/main" id="{0F68BBEE-2D0B-405A-A9A7-57164E485DEA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4203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Trust Score</a:t>
            </a:r>
          </a:p>
        </p:txBody>
      </p:sp>
      <p:sp>
        <p:nvSpPr>
          <p:cNvPr id="9" name="innovation-body-0">
            <a:extLst>
              <a:ext uri="{FF2B5EF4-FFF2-40B4-BE49-F238E27FC236}">
                <a16:creationId xmlns:a16="http://schemas.microsoft.com/office/drawing/2014/main" id="{6186F9F9-E240-4618-99B4-E49601C36D6E}"/>
              </a:ext>
            </a:extLst>
          </p:cNvPr>
          <p:cNvSpPr>
            <a:spLocks noGrp="1"/>
          </p:cNvSpPr>
          <p:nvPr/>
        </p:nvSpPr>
        <p:spPr>
          <a:xfrm>
            <a:off x="628650" y="37147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Calculated from verified skills, ratings, experience, completions, certificates, assessments, and profile completeness.</a:t>
            </a:r>
          </a:p>
        </p:txBody>
      </p:sp>
      <p:sp>
        <p:nvSpPr>
          <p:cNvPr id="10" name="innovation-Explainable Fit">
            <a:extLst>
              <a:ext uri="{FF2B5EF4-FFF2-40B4-BE49-F238E27FC236}">
                <a16:creationId xmlns:a16="http://schemas.microsoft.com/office/drawing/2014/main" id="{691A45E8-EB98-4C20-AC6F-8DF33CD86B3F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2571750" cy="2952750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innovation-stat-1">
            <a:extLst>
              <a:ext uri="{FF2B5EF4-FFF2-40B4-BE49-F238E27FC236}">
                <a16:creationId xmlns:a16="http://schemas.microsoft.com/office/drawing/2014/main" id="{8EDCA04E-CAA4-4AF3-B0FD-D0BDF10380E5}"/>
              </a:ext>
            </a:extLst>
          </p:cNvPr>
          <p:cNvSpPr>
            <a:spLocks noGrp="1"/>
          </p:cNvSpPr>
          <p:nvPr/>
        </p:nvSpPr>
        <p:spPr>
          <a:xfrm>
            <a:off x="3581400" y="24384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22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rPr>
              <a:t>Match %</a:t>
            </a:r>
          </a:p>
        </p:txBody>
      </p:sp>
      <p:sp>
        <p:nvSpPr>
          <p:cNvPr id="12" name="innovation-label-1">
            <a:extLst>
              <a:ext uri="{FF2B5EF4-FFF2-40B4-BE49-F238E27FC236}">
                <a16:creationId xmlns:a16="http://schemas.microsoft.com/office/drawing/2014/main" id="{1E8C5831-7D6C-4F50-98F8-4A6BEE67C6C8}"/>
              </a:ext>
            </a:extLst>
          </p:cNvPr>
          <p:cNvSpPr>
            <a:spLocks noGrp="1"/>
          </p:cNvSpPr>
          <p:nvPr/>
        </p:nvSpPr>
        <p:spPr>
          <a:xfrm>
            <a:off x="3581400" y="3219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4203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Explainable Fit</a:t>
            </a:r>
          </a:p>
        </p:txBody>
      </p:sp>
      <p:sp>
        <p:nvSpPr>
          <p:cNvPr id="13" name="innovation-body-1">
            <a:extLst>
              <a:ext uri="{FF2B5EF4-FFF2-40B4-BE49-F238E27FC236}">
                <a16:creationId xmlns:a16="http://schemas.microsoft.com/office/drawing/2014/main" id="{115292CB-A6EE-472C-B919-C1AF65B82C37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Employers see why a worker matches a role across skills, location, availability, salary, and trust.</a:t>
            </a:r>
          </a:p>
        </p:txBody>
      </p:sp>
      <p:sp>
        <p:nvSpPr>
          <p:cNvPr id="14" name="innovation-Messaging">
            <a:extLst>
              <a:ext uri="{FF2B5EF4-FFF2-40B4-BE49-F238E27FC236}">
                <a16:creationId xmlns:a16="http://schemas.microsoft.com/office/drawing/2014/main" id="{195F844E-4009-41D8-B811-3DB00171490B}"/>
              </a:ext>
            </a:extLst>
          </p:cNvPr>
          <p:cNvSpPr>
            <a:spLocks noGrp="1"/>
          </p:cNvSpPr>
          <p:nvPr/>
        </p:nvSpPr>
        <p:spPr>
          <a:xfrm>
            <a:off x="6305550" y="2190750"/>
            <a:ext cx="2571750" cy="295275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innovation-stat-2">
            <a:extLst>
              <a:ext uri="{FF2B5EF4-FFF2-40B4-BE49-F238E27FC236}">
                <a16:creationId xmlns:a16="http://schemas.microsoft.com/office/drawing/2014/main" id="{C4C0C6C2-15C3-482E-88B2-46F02D6AA615}"/>
              </a:ext>
            </a:extLst>
          </p:cNvPr>
          <p:cNvSpPr>
            <a:spLocks noGrp="1"/>
          </p:cNvSpPr>
          <p:nvPr/>
        </p:nvSpPr>
        <p:spPr>
          <a:xfrm>
            <a:off x="6534150" y="24384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2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Live</a:t>
            </a:r>
          </a:p>
        </p:txBody>
      </p:sp>
      <p:sp>
        <p:nvSpPr>
          <p:cNvPr id="16" name="innovation-label-2">
            <a:extLst>
              <a:ext uri="{FF2B5EF4-FFF2-40B4-BE49-F238E27FC236}">
                <a16:creationId xmlns:a16="http://schemas.microsoft.com/office/drawing/2014/main" id="{5DB32595-A9D6-4D46-9730-813CED15F078}"/>
              </a:ext>
            </a:extLst>
          </p:cNvPr>
          <p:cNvSpPr>
            <a:spLocks noGrp="1"/>
          </p:cNvSpPr>
          <p:nvPr/>
        </p:nvSpPr>
        <p:spPr>
          <a:xfrm>
            <a:off x="6534150" y="3219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4203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Messaging</a:t>
            </a:r>
          </a:p>
        </p:txBody>
      </p:sp>
      <p:sp>
        <p:nvSpPr>
          <p:cNvPr id="17" name="innovation-body-2">
            <a:extLst>
              <a:ext uri="{FF2B5EF4-FFF2-40B4-BE49-F238E27FC236}">
                <a16:creationId xmlns:a16="http://schemas.microsoft.com/office/drawing/2014/main" id="{EFCBC3BD-8A87-406A-B6EC-B7A9CF1C2244}"/>
              </a:ext>
            </a:extLst>
          </p:cNvPr>
          <p:cNvSpPr>
            <a:spLocks noGrp="1"/>
          </p:cNvSpPr>
          <p:nvPr/>
        </p:nvSpPr>
        <p:spPr>
          <a:xfrm>
            <a:off x="6534150" y="37147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Socket.IO keeps worker-employer conversations inside the hiring workflow.</a:t>
            </a:r>
          </a:p>
        </p:txBody>
      </p:sp>
      <p:sp>
        <p:nvSpPr>
          <p:cNvPr id="18" name="innovation-Verification">
            <a:extLst>
              <a:ext uri="{FF2B5EF4-FFF2-40B4-BE49-F238E27FC236}">
                <a16:creationId xmlns:a16="http://schemas.microsoft.com/office/drawing/2014/main" id="{A6D3731E-755D-4EF0-97A1-B707E645763D}"/>
              </a:ext>
            </a:extLst>
          </p:cNvPr>
          <p:cNvSpPr>
            <a:spLocks noGrp="1"/>
          </p:cNvSpPr>
          <p:nvPr/>
        </p:nvSpPr>
        <p:spPr>
          <a:xfrm>
            <a:off x="9258300" y="2190750"/>
            <a:ext cx="2571750" cy="2952750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innovation-stat-3">
            <a:extLst>
              <a:ext uri="{FF2B5EF4-FFF2-40B4-BE49-F238E27FC236}">
                <a16:creationId xmlns:a16="http://schemas.microsoft.com/office/drawing/2014/main" id="{82649DF7-1D4F-49E6-A886-8D8480F73EAC}"/>
              </a:ext>
            </a:extLst>
          </p:cNvPr>
          <p:cNvSpPr>
            <a:spLocks noGrp="1"/>
          </p:cNvSpPr>
          <p:nvPr/>
        </p:nvSpPr>
        <p:spPr>
          <a:xfrm>
            <a:off x="9486900" y="24384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22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rPr>
              <a:t>Queue</a:t>
            </a:r>
          </a:p>
        </p:txBody>
      </p:sp>
      <p:sp>
        <p:nvSpPr>
          <p:cNvPr id="20" name="innovation-label-3">
            <a:extLst>
              <a:ext uri="{FF2B5EF4-FFF2-40B4-BE49-F238E27FC236}">
                <a16:creationId xmlns:a16="http://schemas.microsoft.com/office/drawing/2014/main" id="{67138615-38CD-4840-899E-4B330F1B54D8}"/>
              </a:ext>
            </a:extLst>
          </p:cNvPr>
          <p:cNvSpPr>
            <a:spLocks noGrp="1"/>
          </p:cNvSpPr>
          <p:nvPr/>
        </p:nvSpPr>
        <p:spPr>
          <a:xfrm>
            <a:off x="9486900" y="3219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4203"/>
          </a:bodyPr>
          <a:lstStyle/>
          <a:p>
            <a:pPr algn="l">
              <a:def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Verification</a:t>
            </a:r>
          </a:p>
        </p:txBody>
      </p:sp>
      <p:sp>
        <p:nvSpPr>
          <p:cNvPr id="21" name="innovation-body-3">
            <a:extLst>
              <a:ext uri="{FF2B5EF4-FFF2-40B4-BE49-F238E27FC236}">
                <a16:creationId xmlns:a16="http://schemas.microsoft.com/office/drawing/2014/main" id="{2DCD8AAE-9F28-4D5C-A0CF-EE91001FB99C}"/>
              </a:ext>
            </a:extLst>
          </p:cNvPr>
          <p:cNvSpPr>
            <a:spLocks noGrp="1"/>
          </p:cNvSpPr>
          <p:nvPr/>
        </p:nvSpPr>
        <p:spPr>
          <a:xfrm>
            <a:off x="9486900" y="37147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Admin approvals turn documents and certificates into visible trust signals.</a:t>
            </a:r>
          </a:p>
        </p:txBody>
      </p:sp>
      <p:sp>
        <p:nvSpPr>
          <p:cNvPr id="22" name="innovation-footer">
            <a:extLst>
              <a:ext uri="{FF2B5EF4-FFF2-40B4-BE49-F238E27FC236}">
                <a16:creationId xmlns:a16="http://schemas.microsoft.com/office/drawing/2014/main" id="{DD30D786-5FEB-4D0E-A15A-08EED73D5072}"/>
              </a:ext>
            </a:extLst>
          </p:cNvPr>
          <p:cNvSpPr>
            <a:spLocks noGrp="1"/>
          </p:cNvSpPr>
          <p:nvPr/>
        </p:nvSpPr>
        <p:spPr>
          <a:xfrm>
            <a:off x="400050" y="5772150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Trust signals are not hidden. They become the product experience.</a:t>
            </a:r>
          </a:p>
        </p:txBody>
      </p:sp>
    </p:spTree>
    <p:extLst>
      <p:ext uri="{BB962C8B-B14F-4D97-AF65-F5344CB8AC3E}">
        <p14:creationId xmlns:p14="http://schemas.microsoft.com/office/powerpoint/2010/main" val="15564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rand-dot">
            <a:extLst>
              <a:ext uri="{FF2B5EF4-FFF2-40B4-BE49-F238E27FC236}">
                <a16:creationId xmlns:a16="http://schemas.microsoft.com/office/drawing/2014/main" id="{9A871881-EA0E-4CF1-A96E-034B21D4A072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4300" cy="114300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2" name="brand-label">
            <a:extLst>
              <a:ext uri="{FF2B5EF4-FFF2-40B4-BE49-F238E27FC236}">
                <a16:creationId xmlns:a16="http://schemas.microsoft.com/office/drawing/2014/main" id="{53F29F2A-5CC9-4297-9327-604D44769D6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KAUSHALSETU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4BA448E-434C-46D8-B448-2AF33E0859E2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Built as a production-ready MERN app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7B0E4ADD-5347-4B82-B786-9F369E06FABB}"/>
              </a:ext>
            </a:extLst>
          </p:cNvPr>
          <p:cNvSpPr>
            <a:spLocks noGrp="1"/>
          </p:cNvSpPr>
          <p:nvPr/>
        </p:nvSpPr>
        <p:spPr>
          <a:xfrm>
            <a:off x="7524750" y="866775"/>
            <a:ext cx="4267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demo runs on a deployed frontend and backend, with real-time messaging layered into the hiring flow.</a:t>
            </a:r>
          </a:p>
        </p:txBody>
      </p:sp>
      <p:sp>
        <p:nvSpPr>
          <p:cNvPr id="5" name="footer-10">
            <a:extLst>
              <a:ext uri="{FF2B5EF4-FFF2-40B4-BE49-F238E27FC236}">
                <a16:creationId xmlns:a16="http://schemas.microsoft.com/office/drawing/2014/main" id="{14B639F8-1473-4F7E-A667-86FED2E784B3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stack-color-0">
            <a:extLst>
              <a:ext uri="{FF2B5EF4-FFF2-40B4-BE49-F238E27FC236}">
                <a16:creationId xmlns:a16="http://schemas.microsoft.com/office/drawing/2014/main" id="{3C812C8B-7BE6-4BE1-9715-62DC0C1F72DE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171450" cy="590550"/>
          </a:xfrm>
          <a:prstGeom prst="rect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7" name="stack-heading-0">
            <a:extLst>
              <a:ext uri="{FF2B5EF4-FFF2-40B4-BE49-F238E27FC236}">
                <a16:creationId xmlns:a16="http://schemas.microsoft.com/office/drawing/2014/main" id="{87081DE9-6C2F-48B8-BE94-DC11D1A3A437}"/>
              </a:ext>
            </a:extLst>
          </p:cNvPr>
          <p:cNvSpPr>
            <a:spLocks noGrp="1"/>
          </p:cNvSpPr>
          <p:nvPr/>
        </p:nvSpPr>
        <p:spPr>
          <a:xfrm>
            <a:off x="1162050" y="2076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3333"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8" name="stack-body-0">
            <a:extLst>
              <a:ext uri="{FF2B5EF4-FFF2-40B4-BE49-F238E27FC236}">
                <a16:creationId xmlns:a16="http://schemas.microsoft.com/office/drawing/2014/main" id="{82C29129-B8D1-43E4-8047-1D6BE7550C83}"/>
              </a:ext>
            </a:extLst>
          </p:cNvPr>
          <p:cNvSpPr>
            <a:spLocks noGrp="1"/>
          </p:cNvSpPr>
          <p:nvPr/>
        </p:nvSpPr>
        <p:spPr>
          <a:xfrm>
            <a:off x="1162050" y="2419350"/>
            <a:ext cx="501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React 19, Vite, Tailwind CSS</a:t>
            </a:r>
          </a:p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Light/dark theme, Swiper, role portals</a:t>
            </a:r>
          </a:p>
        </p:txBody>
      </p:sp>
      <p:sp>
        <p:nvSpPr>
          <p:cNvPr id="9" name="stack-color-1">
            <a:extLst>
              <a:ext uri="{FF2B5EF4-FFF2-40B4-BE49-F238E27FC236}">
                <a16:creationId xmlns:a16="http://schemas.microsoft.com/office/drawing/2014/main" id="{21C22DDA-09A2-4837-836F-DCE0C362A9DA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171450" cy="590550"/>
          </a:xfrm>
          <a:prstGeom prst="rect">
            <a:avLst/>
          </a:prstGeom>
          <a:solidFill>
            <a:srgbClr val="071B36"/>
          </a:solidFill>
          <a:ln w="0">
            <a:noFill/>
            <a:prstDash val="solid"/>
          </a:ln>
        </p:spPr>
      </p:sp>
      <p:sp>
        <p:nvSpPr>
          <p:cNvPr id="10" name="stack-heading-1">
            <a:extLst>
              <a:ext uri="{FF2B5EF4-FFF2-40B4-BE49-F238E27FC236}">
                <a16:creationId xmlns:a16="http://schemas.microsoft.com/office/drawing/2014/main" id="{1569F041-AE34-419D-8AE4-681658EA13DA}"/>
              </a:ext>
            </a:extLst>
          </p:cNvPr>
          <p:cNvSpPr>
            <a:spLocks noGrp="1"/>
          </p:cNvSpPr>
          <p:nvPr/>
        </p:nvSpPr>
        <p:spPr>
          <a:xfrm>
            <a:off x="1162050" y="2952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3333"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11" name="stack-body-1">
            <a:extLst>
              <a:ext uri="{FF2B5EF4-FFF2-40B4-BE49-F238E27FC236}">
                <a16:creationId xmlns:a16="http://schemas.microsoft.com/office/drawing/2014/main" id="{F6A3330F-E5DE-439D-84DB-14444D3C5435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501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Node.js, Express, JWT auth</a:t>
            </a:r>
          </a:p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Routes, controllers, services, middleware</a:t>
            </a:r>
          </a:p>
        </p:txBody>
      </p:sp>
      <p:sp>
        <p:nvSpPr>
          <p:cNvPr id="12" name="stack-color-2">
            <a:extLst>
              <a:ext uri="{FF2B5EF4-FFF2-40B4-BE49-F238E27FC236}">
                <a16:creationId xmlns:a16="http://schemas.microsoft.com/office/drawing/2014/main" id="{A0379B76-B7EE-4826-B80A-74E312CA2754}"/>
              </a:ext>
            </a:extLst>
          </p:cNvPr>
          <p:cNvSpPr>
            <a:spLocks noGrp="1"/>
          </p:cNvSpPr>
          <p:nvPr/>
        </p:nvSpPr>
        <p:spPr>
          <a:xfrm>
            <a:off x="742950" y="3848100"/>
            <a:ext cx="171450" cy="590550"/>
          </a:xfrm>
          <a:prstGeom prst="rect">
            <a:avLst/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13" name="stack-heading-2">
            <a:extLst>
              <a:ext uri="{FF2B5EF4-FFF2-40B4-BE49-F238E27FC236}">
                <a16:creationId xmlns:a16="http://schemas.microsoft.com/office/drawing/2014/main" id="{F746D68A-9842-4D5B-AC0B-AA30F4927BEF}"/>
              </a:ext>
            </a:extLst>
          </p:cNvPr>
          <p:cNvSpPr>
            <a:spLocks noGrp="1"/>
          </p:cNvSpPr>
          <p:nvPr/>
        </p:nvSpPr>
        <p:spPr>
          <a:xfrm>
            <a:off x="1162050" y="38290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3333"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14" name="stack-body-2">
            <a:extLst>
              <a:ext uri="{FF2B5EF4-FFF2-40B4-BE49-F238E27FC236}">
                <a16:creationId xmlns:a16="http://schemas.microsoft.com/office/drawing/2014/main" id="{966B50C8-08BB-4064-BEEA-F261FC270C85}"/>
              </a:ext>
            </a:extLst>
          </p:cNvPr>
          <p:cNvSpPr>
            <a:spLocks noGrp="1"/>
          </p:cNvSpPr>
          <p:nvPr/>
        </p:nvSpPr>
        <p:spPr>
          <a:xfrm>
            <a:off x="1162050" y="4171950"/>
            <a:ext cx="501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MongoDB with Mongoose</a:t>
            </a:r>
          </a:p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Users, profiles, jobs, applications, messages</a:t>
            </a:r>
          </a:p>
        </p:txBody>
      </p:sp>
      <p:sp>
        <p:nvSpPr>
          <p:cNvPr id="15" name="stack-color-3">
            <a:extLst>
              <a:ext uri="{FF2B5EF4-FFF2-40B4-BE49-F238E27FC236}">
                <a16:creationId xmlns:a16="http://schemas.microsoft.com/office/drawing/2014/main" id="{81EE356B-64BE-4E30-83ED-FFCA412E8814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171450" cy="5905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stack-heading-3">
            <a:extLst>
              <a:ext uri="{FF2B5EF4-FFF2-40B4-BE49-F238E27FC236}">
                <a16:creationId xmlns:a16="http://schemas.microsoft.com/office/drawing/2014/main" id="{A8D51412-F6CB-4245-9EEE-509266DEDE6C}"/>
              </a:ext>
            </a:extLst>
          </p:cNvPr>
          <p:cNvSpPr>
            <a:spLocks noGrp="1"/>
          </p:cNvSpPr>
          <p:nvPr/>
        </p:nvSpPr>
        <p:spPr>
          <a:xfrm>
            <a:off x="1162050" y="4705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3333"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Realtime + Deploy</a:t>
            </a:r>
          </a:p>
        </p:txBody>
      </p:sp>
      <p:sp>
        <p:nvSpPr>
          <p:cNvPr id="17" name="stack-body-3">
            <a:extLst>
              <a:ext uri="{FF2B5EF4-FFF2-40B4-BE49-F238E27FC236}">
                <a16:creationId xmlns:a16="http://schemas.microsoft.com/office/drawing/2014/main" id="{25D7A21F-EE9B-4970-BC87-01F33604C383}"/>
              </a:ext>
            </a:extLst>
          </p:cNvPr>
          <p:cNvSpPr>
            <a:spLocks noGrp="1"/>
          </p:cNvSpPr>
          <p:nvPr/>
        </p:nvSpPr>
        <p:spPr>
          <a:xfrm>
            <a:off x="1162050" y="5048250"/>
            <a:ext cx="5010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Socket.IO and WebSockets</a:t>
            </a:r>
          </a:p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Frontend on Netlify, backend on Render</a:t>
            </a:r>
          </a:p>
        </p:txBody>
      </p:sp>
      <p:sp>
        <p:nvSpPr>
          <p:cNvPr id="18" name="architecture-panel">
            <a:extLst>
              <a:ext uri="{FF2B5EF4-FFF2-40B4-BE49-F238E27FC236}">
                <a16:creationId xmlns:a16="http://schemas.microsoft.com/office/drawing/2014/main" id="{0F9F4579-6D70-42FB-B36C-1EF782AEEADA}"/>
              </a:ext>
            </a:extLst>
          </p:cNvPr>
          <p:cNvSpPr>
            <a:spLocks noGrp="1"/>
          </p:cNvSpPr>
          <p:nvPr/>
        </p:nvSpPr>
        <p:spPr>
          <a:xfrm>
            <a:off x="7029450" y="2209800"/>
            <a:ext cx="4171950" cy="3276600"/>
          </a:xfrm>
          <a:prstGeom prst="roundRect">
            <a:avLst>
              <a:gd name="adj" fmla="val 287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arch-title">
            <a:extLst>
              <a:ext uri="{FF2B5EF4-FFF2-40B4-BE49-F238E27FC236}">
                <a16:creationId xmlns:a16="http://schemas.microsoft.com/office/drawing/2014/main" id="{E08CFF98-EEE6-4B7A-B99E-8DC3F8EA0266}"/>
              </a:ext>
            </a:extLst>
          </p:cNvPr>
          <p:cNvSpPr>
            <a:spLocks noGrp="1"/>
          </p:cNvSpPr>
          <p:nvPr/>
        </p:nvSpPr>
        <p:spPr>
          <a:xfrm>
            <a:off x="7334250" y="24765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9744"/>
          </a:bodyPr>
          <a:lstStyle/>
          <a:p>
            <a:pPr algn="ctr"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Architecture</a:t>
            </a:r>
          </a:p>
        </p:txBody>
      </p:sp>
      <p:sp>
        <p:nvSpPr>
          <p:cNvPr id="20" name="tag-React UI">
            <a:extLst>
              <a:ext uri="{FF2B5EF4-FFF2-40B4-BE49-F238E27FC236}">
                <a16:creationId xmlns:a16="http://schemas.microsoft.com/office/drawing/2014/main" id="{F9F2138A-17FF-4B21-9347-FF850780A317}"/>
              </a:ext>
            </a:extLst>
          </p:cNvPr>
          <p:cNvSpPr>
            <a:spLocks noGrp="1"/>
          </p:cNvSpPr>
          <p:nvPr/>
        </p:nvSpPr>
        <p:spPr>
          <a:xfrm>
            <a:off x="8382000" y="3086100"/>
            <a:ext cx="1447800" cy="323850"/>
          </a:xfrm>
          <a:prstGeom prst="roundRect">
            <a:avLst>
              <a:gd name="adj" fmla="val 23529"/>
            </a:avLst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21" name="tag-text-React UI">
            <a:extLst>
              <a:ext uri="{FF2B5EF4-FFF2-40B4-BE49-F238E27FC236}">
                <a16:creationId xmlns:a16="http://schemas.microsoft.com/office/drawing/2014/main" id="{ACF49865-D73C-4E06-B3D6-1309E110FFDC}"/>
              </a:ext>
            </a:extLst>
          </p:cNvPr>
          <p:cNvSpPr>
            <a:spLocks noGrp="1"/>
          </p:cNvSpPr>
          <p:nvPr/>
        </p:nvSpPr>
        <p:spPr>
          <a:xfrm>
            <a:off x="8458200" y="31242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React UI</a:t>
            </a:r>
          </a:p>
        </p:txBody>
      </p:sp>
      <p:sp>
        <p:nvSpPr>
          <p:cNvPr id="22" name="arch-arrow-a">
            <a:extLst>
              <a:ext uri="{FF2B5EF4-FFF2-40B4-BE49-F238E27FC236}">
                <a16:creationId xmlns:a16="http://schemas.microsoft.com/office/drawing/2014/main" id="{85452813-C86C-4656-B6F4-7F422852C421}"/>
              </a:ext>
            </a:extLst>
          </p:cNvPr>
          <p:cNvSpPr>
            <a:spLocks noGrp="1"/>
          </p:cNvSpPr>
          <p:nvPr/>
        </p:nvSpPr>
        <p:spPr>
          <a:xfrm>
            <a:off x="8372475" y="3571875"/>
            <a:ext cx="1447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275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REST API</a:t>
            </a:r>
          </a:p>
        </p:txBody>
      </p:sp>
      <p:sp>
        <p:nvSpPr>
          <p:cNvPr id="23" name="tag-Express API">
            <a:extLst>
              <a:ext uri="{FF2B5EF4-FFF2-40B4-BE49-F238E27FC236}">
                <a16:creationId xmlns:a16="http://schemas.microsoft.com/office/drawing/2014/main" id="{759EF9A2-0A4A-4021-8D3D-83A1CD52F337}"/>
              </a:ext>
            </a:extLst>
          </p:cNvPr>
          <p:cNvSpPr>
            <a:spLocks noGrp="1"/>
          </p:cNvSpPr>
          <p:nvPr/>
        </p:nvSpPr>
        <p:spPr>
          <a:xfrm>
            <a:off x="8382000" y="4000500"/>
            <a:ext cx="1447800" cy="323850"/>
          </a:xfrm>
          <a:prstGeom prst="roundRect">
            <a:avLst>
              <a:gd name="adj" fmla="val 23529"/>
            </a:avLst>
          </a:prstGeom>
          <a:solidFill>
            <a:srgbClr val="071B36"/>
          </a:solidFill>
          <a:ln w="0">
            <a:noFill/>
            <a:prstDash val="solid"/>
          </a:ln>
        </p:spPr>
      </p:sp>
      <p:sp>
        <p:nvSpPr>
          <p:cNvPr id="24" name="tag-text-Express API">
            <a:extLst>
              <a:ext uri="{FF2B5EF4-FFF2-40B4-BE49-F238E27FC236}">
                <a16:creationId xmlns:a16="http://schemas.microsoft.com/office/drawing/2014/main" id="{8E12ECDA-DF73-4706-B8D5-7890091C751B}"/>
              </a:ext>
            </a:extLst>
          </p:cNvPr>
          <p:cNvSpPr>
            <a:spLocks noGrp="1"/>
          </p:cNvSpPr>
          <p:nvPr/>
        </p:nvSpPr>
        <p:spPr>
          <a:xfrm>
            <a:off x="8458200" y="40386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Express API</a:t>
            </a:r>
          </a:p>
        </p:txBody>
      </p:sp>
      <p:sp>
        <p:nvSpPr>
          <p:cNvPr id="25" name="arch-arrow-b">
            <a:extLst>
              <a:ext uri="{FF2B5EF4-FFF2-40B4-BE49-F238E27FC236}">
                <a16:creationId xmlns:a16="http://schemas.microsoft.com/office/drawing/2014/main" id="{DDC5647A-31B0-4941-8AE1-6018B04B7A63}"/>
              </a:ext>
            </a:extLst>
          </p:cNvPr>
          <p:cNvSpPr>
            <a:spLocks noGrp="1"/>
          </p:cNvSpPr>
          <p:nvPr/>
        </p:nvSpPr>
        <p:spPr>
          <a:xfrm>
            <a:off x="8372475" y="4486275"/>
            <a:ext cx="1447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275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475569"/>
                </a:solidFill>
                <a:latin typeface="Aptos Display"/>
                <a:ea typeface="Aptos Display"/>
                <a:cs typeface="Aptos Display"/>
              </a:rPr>
              <a:t>Mongoose</a:t>
            </a:r>
          </a:p>
        </p:txBody>
      </p:sp>
      <p:sp>
        <p:nvSpPr>
          <p:cNvPr id="26" name="tag-MongoDB">
            <a:extLst>
              <a:ext uri="{FF2B5EF4-FFF2-40B4-BE49-F238E27FC236}">
                <a16:creationId xmlns:a16="http://schemas.microsoft.com/office/drawing/2014/main" id="{9946F4CF-28AA-433A-910B-657B60C6EC3D}"/>
              </a:ext>
            </a:extLst>
          </p:cNvPr>
          <p:cNvSpPr>
            <a:spLocks noGrp="1"/>
          </p:cNvSpPr>
          <p:nvPr/>
        </p:nvSpPr>
        <p:spPr>
          <a:xfrm>
            <a:off x="8382000" y="4914900"/>
            <a:ext cx="1447800" cy="323850"/>
          </a:xfrm>
          <a:prstGeom prst="roundRect">
            <a:avLst>
              <a:gd name="adj" fmla="val 23529"/>
            </a:avLst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27" name="tag-text-MongoDB">
            <a:extLst>
              <a:ext uri="{FF2B5EF4-FFF2-40B4-BE49-F238E27FC236}">
                <a16:creationId xmlns:a16="http://schemas.microsoft.com/office/drawing/2014/main" id="{ECD5C537-3812-4503-808E-07C5FF4F8ED9}"/>
              </a:ext>
            </a:extLst>
          </p:cNvPr>
          <p:cNvSpPr>
            <a:spLocks noGrp="1"/>
          </p:cNvSpPr>
          <p:nvPr/>
        </p:nvSpPr>
        <p:spPr>
          <a:xfrm>
            <a:off x="8458200" y="49530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2118490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lose-eyebrow">
            <a:extLst>
              <a:ext uri="{FF2B5EF4-FFF2-40B4-BE49-F238E27FC236}">
                <a16:creationId xmlns:a16="http://schemas.microsoft.com/office/drawing/2014/main" id="{F34EA2B6-E400-48BE-AFE1-FAD74C52C96C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rPr>
              <a:t>IMPACT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FA5B8B2F-A134-4560-9945-463CEC9C1FF4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7756"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KaushalSetu connects skills with opportunities</a:t>
            </a:r>
          </a:p>
        </p:txBody>
      </p:sp>
      <p:sp>
        <p:nvSpPr>
          <p:cNvPr id="3" name="impact-top-0">
            <a:extLst>
              <a:ext uri="{FF2B5EF4-FFF2-40B4-BE49-F238E27FC236}">
                <a16:creationId xmlns:a16="http://schemas.microsoft.com/office/drawing/2014/main" id="{CE63F54B-D44E-4AB4-98F6-133AD6B1154B}"/>
              </a:ext>
            </a:extLst>
          </p:cNvPr>
          <p:cNvSpPr>
            <a:spLocks noGrp="1"/>
          </p:cNvSpPr>
          <p:nvPr/>
        </p:nvSpPr>
        <p:spPr>
          <a:xfrm>
            <a:off x="495300" y="3124200"/>
            <a:ext cx="3162300" cy="85725"/>
          </a:xfrm>
          <a:prstGeom prst="rect">
            <a:avLst/>
          </a:prstGeom>
          <a:solidFill>
            <a:srgbClr val="2B84EA"/>
          </a:solidFill>
          <a:ln w="0">
            <a:noFill/>
            <a:prstDash val="solid"/>
          </a:ln>
        </p:spPr>
      </p:sp>
      <p:sp>
        <p:nvSpPr>
          <p:cNvPr id="4" name="impact-panel-0">
            <a:extLst>
              <a:ext uri="{FF2B5EF4-FFF2-40B4-BE49-F238E27FC236}">
                <a16:creationId xmlns:a16="http://schemas.microsoft.com/office/drawing/2014/main" id="{8A908A03-FC5E-45B7-AD8E-B3051C93C630}"/>
              </a:ext>
            </a:extLst>
          </p:cNvPr>
          <p:cNvSpPr>
            <a:spLocks noGrp="1"/>
          </p:cNvSpPr>
          <p:nvPr/>
        </p:nvSpPr>
        <p:spPr>
          <a:xfrm>
            <a:off x="495300" y="3209925"/>
            <a:ext cx="3162300" cy="1885950"/>
          </a:xfrm>
          <a:prstGeom prst="roundRect">
            <a:avLst>
              <a:gd name="adj" fmla="val 4040"/>
            </a:avLst>
          </a:prstGeom>
          <a:solidFill>
            <a:srgbClr val="102A4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impact-heading-0">
            <a:extLst>
              <a:ext uri="{FF2B5EF4-FFF2-40B4-BE49-F238E27FC236}">
                <a16:creationId xmlns:a16="http://schemas.microsoft.com/office/drawing/2014/main" id="{1E3BBD71-0C11-43E6-9CFF-2EA4238125B6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2593"/>
          </a:bodyPr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Workers</a:t>
            </a:r>
          </a:p>
        </p:txBody>
      </p:sp>
      <p:sp>
        <p:nvSpPr>
          <p:cNvPr id="6" name="impact-body-0">
            <a:extLst>
              <a:ext uri="{FF2B5EF4-FFF2-40B4-BE49-F238E27FC236}">
                <a16:creationId xmlns:a16="http://schemas.microsoft.com/office/drawing/2014/main" id="{15DB341E-3E55-4D5C-8CF9-FDFD26AD07DE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350" b="0">
                <a:solidFill>
                  <a:srgbClr val="C6D6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6D6EA"/>
                </a:solidFill>
                <a:latin typeface="Aptos"/>
                <a:ea typeface="Aptos"/>
                <a:cs typeface="Aptos"/>
              </a:rPr>
              <a:t>Build trusted profiles, discover jobs, apply, track status, and talk to employers.</a:t>
            </a:r>
          </a:p>
        </p:txBody>
      </p:sp>
      <p:sp>
        <p:nvSpPr>
          <p:cNvPr id="7" name="impact-top-1">
            <a:extLst>
              <a:ext uri="{FF2B5EF4-FFF2-40B4-BE49-F238E27FC236}">
                <a16:creationId xmlns:a16="http://schemas.microsoft.com/office/drawing/2014/main" id="{5F8CE93E-7178-4FAA-845A-C172F2BD2924}"/>
              </a:ext>
            </a:extLst>
          </p:cNvPr>
          <p:cNvSpPr>
            <a:spLocks noGrp="1"/>
          </p:cNvSpPr>
          <p:nvPr/>
        </p:nvSpPr>
        <p:spPr>
          <a:xfrm>
            <a:off x="4286250" y="3124200"/>
            <a:ext cx="3162300" cy="85725"/>
          </a:xfrm>
          <a:prstGeom prst="rect">
            <a:avLst/>
          </a:prstGeom>
          <a:solidFill>
            <a:srgbClr val="69D38B"/>
          </a:solidFill>
          <a:ln w="0">
            <a:noFill/>
            <a:prstDash val="solid"/>
          </a:ln>
        </p:spPr>
      </p:sp>
      <p:sp>
        <p:nvSpPr>
          <p:cNvPr id="8" name="impact-panel-1">
            <a:extLst>
              <a:ext uri="{FF2B5EF4-FFF2-40B4-BE49-F238E27FC236}">
                <a16:creationId xmlns:a16="http://schemas.microsoft.com/office/drawing/2014/main" id="{35838C80-9C82-47EA-BBE4-9B8D8BB740B2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3162300" cy="1885950"/>
          </a:xfrm>
          <a:prstGeom prst="roundRect">
            <a:avLst>
              <a:gd name="adj" fmla="val 4040"/>
            </a:avLst>
          </a:prstGeom>
          <a:solidFill>
            <a:srgbClr val="102A4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impact-heading-1">
            <a:extLst>
              <a:ext uri="{FF2B5EF4-FFF2-40B4-BE49-F238E27FC236}">
                <a16:creationId xmlns:a16="http://schemas.microsoft.com/office/drawing/2014/main" id="{061F6869-93CD-4388-B48B-81DDB48053D3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2593"/>
          </a:bodyPr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Employers</a:t>
            </a:r>
          </a:p>
        </p:txBody>
      </p:sp>
      <p:sp>
        <p:nvSpPr>
          <p:cNvPr id="10" name="impact-body-1">
            <a:extLst>
              <a:ext uri="{FF2B5EF4-FFF2-40B4-BE49-F238E27FC236}">
                <a16:creationId xmlns:a16="http://schemas.microsoft.com/office/drawing/2014/main" id="{855519D5-A2C3-4555-B4B0-3113C0BD4C24}"/>
              </a:ext>
            </a:extLst>
          </p:cNvPr>
          <p:cNvSpPr>
            <a:spLocks noGrp="1"/>
          </p:cNvSpPr>
          <p:nvPr/>
        </p:nvSpPr>
        <p:spPr>
          <a:xfrm>
            <a:off x="4533900" y="40386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350" b="0">
                <a:solidFill>
                  <a:srgbClr val="C6D6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6D6EA"/>
                </a:solidFill>
                <a:latin typeface="Aptos"/>
                <a:ea typeface="Aptos"/>
                <a:cs typeface="Aptos"/>
              </a:rPr>
              <a:t>Find credible candidates, shortlist faster, and manage the full hiring pipeline.</a:t>
            </a:r>
          </a:p>
        </p:txBody>
      </p:sp>
      <p:sp>
        <p:nvSpPr>
          <p:cNvPr id="11" name="impact-top-2">
            <a:extLst>
              <a:ext uri="{FF2B5EF4-FFF2-40B4-BE49-F238E27FC236}">
                <a16:creationId xmlns:a16="http://schemas.microsoft.com/office/drawing/2014/main" id="{356EF764-A271-4754-8294-91C156F482DD}"/>
              </a:ext>
            </a:extLst>
          </p:cNvPr>
          <p:cNvSpPr>
            <a:spLocks noGrp="1"/>
          </p:cNvSpPr>
          <p:nvPr/>
        </p:nvSpPr>
        <p:spPr>
          <a:xfrm>
            <a:off x="8077200" y="3124200"/>
            <a:ext cx="3162300" cy="85725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2" name="impact-panel-2">
            <a:extLst>
              <a:ext uri="{FF2B5EF4-FFF2-40B4-BE49-F238E27FC236}">
                <a16:creationId xmlns:a16="http://schemas.microsoft.com/office/drawing/2014/main" id="{44922E05-A4BB-4C5D-8709-59E14EAEE6E2}"/>
              </a:ext>
            </a:extLst>
          </p:cNvPr>
          <p:cNvSpPr>
            <a:spLocks noGrp="1"/>
          </p:cNvSpPr>
          <p:nvPr/>
        </p:nvSpPr>
        <p:spPr>
          <a:xfrm>
            <a:off x="8077200" y="3209925"/>
            <a:ext cx="3162300" cy="1885950"/>
          </a:xfrm>
          <a:prstGeom prst="roundRect">
            <a:avLst>
              <a:gd name="adj" fmla="val 4040"/>
            </a:avLst>
          </a:prstGeom>
          <a:solidFill>
            <a:srgbClr val="102A4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impact-heading-2">
            <a:extLst>
              <a:ext uri="{FF2B5EF4-FFF2-40B4-BE49-F238E27FC236}">
                <a16:creationId xmlns:a16="http://schemas.microsoft.com/office/drawing/2014/main" id="{7143B9BD-5347-433B-8560-87C244075B33}"/>
              </a:ext>
            </a:extLst>
          </p:cNvPr>
          <p:cNvSpPr>
            <a:spLocks noGrp="1"/>
          </p:cNvSpPr>
          <p:nvPr/>
        </p:nvSpPr>
        <p:spPr>
          <a:xfrm>
            <a:off x="8324850" y="35242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2593"/>
          </a:bodyPr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Admins</a:t>
            </a:r>
          </a:p>
        </p:txBody>
      </p:sp>
      <p:sp>
        <p:nvSpPr>
          <p:cNvPr id="14" name="impact-body-2">
            <a:extLst>
              <a:ext uri="{FF2B5EF4-FFF2-40B4-BE49-F238E27FC236}">
                <a16:creationId xmlns:a16="http://schemas.microsoft.com/office/drawing/2014/main" id="{14D8609F-FB47-4381-8D6A-F9AD35F5403E}"/>
              </a:ext>
            </a:extLst>
          </p:cNvPr>
          <p:cNvSpPr>
            <a:spLocks noGrp="1"/>
          </p:cNvSpPr>
          <p:nvPr/>
        </p:nvSpPr>
        <p:spPr>
          <a:xfrm>
            <a:off x="8324850" y="40386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350" b="0">
                <a:solidFill>
                  <a:srgbClr val="C6D6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6D6EA"/>
                </a:solidFill>
                <a:latin typeface="Aptos"/>
                <a:ea typeface="Aptos"/>
                <a:cs typeface="Aptos"/>
              </a:rPr>
              <a:t>Protect platform trust through profile, skill, and certificate verification.</a:t>
            </a:r>
          </a:p>
        </p:txBody>
      </p:sp>
      <p:sp>
        <p:nvSpPr>
          <p:cNvPr id="15" name="close-line">
            <a:extLst>
              <a:ext uri="{FF2B5EF4-FFF2-40B4-BE49-F238E27FC236}">
                <a16:creationId xmlns:a16="http://schemas.microsoft.com/office/drawing/2014/main" id="{2ECB1C64-5492-489C-8234-0BBC91ED1D11}"/>
              </a:ext>
            </a:extLst>
          </p:cNvPr>
          <p:cNvSpPr>
            <a:spLocks noGrp="1"/>
          </p:cNvSpPr>
          <p:nvPr/>
        </p:nvSpPr>
        <p:spPr>
          <a:xfrm>
            <a:off x="514350" y="58293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9D38B"/>
                </a:solidFill>
                <a:latin typeface="Aptos Display"/>
                <a:ea typeface="Aptos Display"/>
                <a:cs typeface="Aptos Display"/>
              </a:rPr>
              <a:t>A single platform for trusted profiles, smarter hiring, and verified opportunity.</a:t>
            </a:r>
          </a:p>
        </p:txBody>
      </p:sp>
      <p:sp>
        <p:nvSpPr>
          <p:cNvPr id="16" name="thanks">
            <a:extLst>
              <a:ext uri="{FF2B5EF4-FFF2-40B4-BE49-F238E27FC236}">
                <a16:creationId xmlns:a16="http://schemas.microsoft.com/office/drawing/2014/main" id="{AFAF973B-CAAA-4485-ABD1-A006B7725742}"/>
              </a:ext>
            </a:extLst>
          </p:cNvPr>
          <p:cNvSpPr>
            <a:spLocks noGrp="1"/>
          </p:cNvSpPr>
          <p:nvPr/>
        </p:nvSpPr>
        <p:spPr>
          <a:xfrm>
            <a:off x="9620250" y="57912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683038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DocSecurity>0</DocSecurity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nikhil nainala</cp:lastModifiedBy>
  <cp:revision>1</cp:revision>
  <dcterms:created xsi:type="dcterms:W3CDTF">2026-08-30T02:40:43Z</dcterms:created>
  <dcterms:modified xsi:type="dcterms:W3CDTF">2026-08-30T03:04:33Z</dcterms:modified>
</cp:coreProperties>
</file>